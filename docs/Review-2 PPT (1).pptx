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6858000" cx="12192000"/>
  <p:notesSz cx="6858000" cy="9144000"/>
  <p:embeddedFontLst>
    <p:embeddedFont>
      <p:font typeface="Play"/>
      <p:regular r:id="rId26"/>
      <p:bold r:id="rId27"/>
    </p:embeddedFon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000000"/>
          </p15:clr>
        </p15:guide>
        <p15:guide id="2" orient="horz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2EF527-CF44-4BD0-BEAE-8E984E3AAB8D}">
  <a:tblStyle styleId="{A02EF527-CF44-4BD0-BEAE-8E984E3AAB8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lay-regular.fntdata"/><Relationship Id="rId25" Type="http://schemas.openxmlformats.org/officeDocument/2006/relationships/slide" Target="slides/slide18.xml"/><Relationship Id="rId28" Type="http://schemas.openxmlformats.org/officeDocument/2006/relationships/font" Target="fonts/Roboto-regular.fntdata"/><Relationship Id="rId27" Type="http://schemas.openxmlformats.org/officeDocument/2006/relationships/font" Target="fonts/Play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showMasterSp="0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2296" y="64007"/>
            <a:ext cx="12015215" cy="5120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Font typeface="Calibri"/>
              <a:buNone/>
              <a:defRPr sz="11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088136" y="5360878"/>
            <a:ext cx="100370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Empt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5"/>
          <p:cNvSpPr txBox="1"/>
          <p:nvPr>
            <p:ph idx="4" type="body"/>
          </p:nvPr>
        </p:nvSpPr>
        <p:spPr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1" name="Google Shape;7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showMasterSp="0">
  <p:cSld name="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82296" y="64007"/>
            <a:ext cx="12015300" cy="51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Font typeface="Calibri"/>
              <a:buNone/>
              <a:defRPr sz="11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088136" y="5360878"/>
            <a:ext cx="10037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7" name="Google Shape;107;p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Empt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p19"/>
          <p:cNvSpPr txBox="1"/>
          <p:nvPr>
            <p:ph idx="2" type="body"/>
          </p:nvPr>
        </p:nvSpPr>
        <p:spPr>
          <a:xfrm>
            <a:off x="839788" y="2505074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19"/>
          <p:cNvSpPr txBox="1"/>
          <p:nvPr>
            <p:ph idx="4" type="body"/>
          </p:nvPr>
        </p:nvSpPr>
        <p:spPr>
          <a:xfrm>
            <a:off x="6172200" y="2505074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2" name="Google Shape;142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60" name="Google Shape;160;p25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1" name="Google Shape;161;p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6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8" name="Google Shape;168;p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2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KL University Hyderabad"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/>
          <p:nvPr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ckground pattern&#10;&#10;Description automatically generated" id="14" name="Google Shape;1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KL University Hyderabad" id="100" name="Google Shape;100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0" y="6811963"/>
            <a:ext cx="12192000" cy="45900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0" y="0"/>
            <a:ext cx="12192000" cy="45900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ckground pattern&#10;&#10;Description automatically generated" id="103" name="Google Shape;10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003551" cy="30035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462890" y="2217420"/>
            <a:ext cx="11147226" cy="1389642"/>
          </a:xfrm>
          <a:prstGeom prst="rect">
            <a:avLst/>
          </a:prstGeom>
          <a:noFill/>
          <a:ln>
            <a:noFill/>
          </a:ln>
          <a:effectLst>
            <a:outerShdw blurRad="50800" rotWithShape="0" algn="br" dir="13500000" dist="38100">
              <a:srgbClr val="000000">
                <a:alpha val="40000"/>
              </a:srgbClr>
            </a:outerShdw>
          </a:effectLst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 sz="44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MathSLM </a:t>
            </a:r>
            <a:r>
              <a:rPr b="1" lang="en-IN" sz="4400" cap="none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b="1" lang="en-IN" sz="2800" cap="none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IN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TRANSFORMER-BASED SMALL LANGUAGE MODEL FOR MATHEMATICAL REASONING</a:t>
            </a:r>
            <a:br>
              <a:rPr b="0" i="0" lang="en-IN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4400" cap="none">
              <a:solidFill>
                <a:srgbClr val="66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9"/>
          <p:cNvSpPr txBox="1"/>
          <p:nvPr>
            <p:ph idx="1" type="subTitle"/>
          </p:nvPr>
        </p:nvSpPr>
        <p:spPr>
          <a:xfrm>
            <a:off x="2215426" y="3700317"/>
            <a:ext cx="7374194" cy="26872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- 19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2420090050 –  Rupen Parthu Palavara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2420090008 – Ankit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2420030635 –Nikhil Sai</a:t>
            </a:r>
            <a:endParaRPr sz="4000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10744200" y="221742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890" y="388782"/>
            <a:ext cx="1790678" cy="66693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9"/>
          <p:cNvSpPr txBox="1"/>
          <p:nvPr/>
        </p:nvSpPr>
        <p:spPr>
          <a:xfrm>
            <a:off x="2803847" y="1055718"/>
            <a:ext cx="6989614" cy="945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A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Machine Learning for Text Analysis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A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(24ALT3101)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0"/>
          <p:cNvSpPr txBox="1"/>
          <p:nvPr/>
        </p:nvSpPr>
        <p:spPr>
          <a:xfrm>
            <a:off x="691400" y="1691662"/>
            <a:ext cx="10922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Large Language Models achieve strong mathematical reasoning but require significant computational resources, making them impractical for resource-constrained environments, while traditional rule-based and machine learning approaches lack generalization across diverse mathematical problems. Therefore, there is a need for a lightweight Transformer-based Small Language Model capable of efficient step-by-step mathematical reasoning.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702529" y="968034"/>
            <a:ext cx="10152600" cy="58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254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b="0" i="0" lang="en-I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Transformer-based Small Language Model (MathSLM) for mathematical reasoning and problem solving.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b="0" i="0" lang="en-I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the model on publicly available mathematical reasoning datasets to learn mathematical concepts and solution patterns.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b="0" i="0" lang="en-I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accurate step-by-step solutions for mathematical problems using autoregressive text generation.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b="0" i="0" lang="en-I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the model using metrics such as validation loss, perplexity, token prediction accuracy, and mathematical answer accuracy.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the trained model through an interactive Streamlit-based web application for real-time mathematical query solving.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•"/>
            </a:pPr>
            <a:r>
              <a:rPr b="0" i="0" lang="en-IN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lightweight and computationally efficient alternative to large language models for educational and resource-constrained environments.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2699700" y="98850"/>
            <a:ext cx="66240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460755" y="5793795"/>
            <a:ext cx="1160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Observation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Current mathematical reasoning models achieve high accuracy but require large computational resources, creating the need for a lightweight Transformer-based Small Language Model.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32"/>
          <p:cNvGraphicFramePr/>
          <p:nvPr/>
        </p:nvGraphicFramePr>
        <p:xfrm>
          <a:off x="368038" y="81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{A02EF527-CF44-4BD0-BEAE-8E984E3AAB8D}</a:tableStyleId>
              </a:tblPr>
              <a:tblGrid>
                <a:gridCol w="2562225"/>
                <a:gridCol w="1514475"/>
                <a:gridCol w="1247775"/>
                <a:gridCol w="3419475"/>
                <a:gridCol w="317182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100" u="none" cap="none" strike="noStrike"/>
                        <a:t>Paper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100" u="none" cap="none" strike="noStrike"/>
                        <a:t>Model / Approach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100" u="none" cap="none" strike="noStrike"/>
                        <a:t>Dataset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100" u="none" cap="none" strike="noStrike"/>
                        <a:t>Key Finding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100" u="none" cap="none" strike="noStrike"/>
                        <a:t>Research Gap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100" u="none" cap="none" strike="noStrike"/>
                        <a:t>Minerva: Solving Quantitative Reasoning Problems with Language Models (2022)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PaLM Fine-tuned for Mathematics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MATH, GSM8K, MMLU-STEM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Demonstrated strong mathematical reasoning using large language models with chain-of-thought generation.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Requires extremely large models and significant computational resources.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100" u="none" cap="none" strike="noStrike"/>
                        <a:t>Training Verifiers to Solve Math Word Problems (2021)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GPT-3 + Verifier Model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GSM8K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Verification models significantly improve mathematical reasoning accuracy over direct generation.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Computationally expensive and dependent on large-scale models.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100" u="none" cap="none" strike="noStrike"/>
                        <a:t>TinyLlama: An Open-Source Small Language Model (2024)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Decoder-Only Transformer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SlimPajama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Small language models can achieve competitive performance while requiring substantially fewer computational resources.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Not specialized for mathematical reasoning tasks.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100" u="none" cap="none" strike="noStrike"/>
                        <a:t>Phi-2: The Surprising Power of Small Language Models (2023)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Transformer-based Small Language Model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Synthetic Textbooks + Web Data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High-quality training data enables compact language models to perform strong reasoning tasks.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General-purpose model without domain-specific mathematical optimization.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100" u="none" cap="none" strike="noStrike"/>
                        <a:t>Qwen2.5 Technical Report (2024)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Decoder-Only Transformer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Large Multi-domain Corpus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Demonstrates strong reasoning and multilingual capabilities across various benchmark tasks.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Higher computational requirements and not designed specifically for lightweight mathematical applications.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/>
        </p:nvSpPr>
        <p:spPr>
          <a:xfrm>
            <a:off x="2920916" y="245736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3"/>
          <p:cNvSpPr txBox="1"/>
          <p:nvPr/>
        </p:nvSpPr>
        <p:spPr>
          <a:xfrm>
            <a:off x="905069" y="1306188"/>
            <a:ext cx="10329000" cy="54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High computational and memory requirements for deployment.</a:t>
            </a:r>
            <a:endParaRPr b="0" i="0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Limited availability of lightweight models specialized for mathematical reasoning.</a:t>
            </a:r>
            <a:endParaRPr b="0" i="0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Existing small language models are primarily general-purpose and not optimized for step-by-step mathematical problem solving.</a:t>
            </a:r>
            <a:endParaRPr b="0" i="0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Traditional rule-based systems struggle to generalize across diverse mathematical domains.</a:t>
            </a:r>
            <a:endParaRPr b="0" i="0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Lack of efficient Transformer-based Small Language Models for educational and real-time mathematical reasoning applications.</a:t>
            </a:r>
            <a:endParaRPr b="0" i="0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229" name="Google Shape;22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00" y="-393225"/>
            <a:ext cx="12287250" cy="725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000" y="583275"/>
            <a:ext cx="10564926" cy="54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4"/>
          <p:cNvSpPr/>
          <p:nvPr/>
        </p:nvSpPr>
        <p:spPr>
          <a:xfrm>
            <a:off x="926800" y="6029425"/>
            <a:ext cx="3483000" cy="74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4"/>
          <p:cNvSpPr/>
          <p:nvPr/>
        </p:nvSpPr>
        <p:spPr>
          <a:xfrm>
            <a:off x="8609775" y="500850"/>
            <a:ext cx="3483000" cy="74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/>
        </p:nvSpPr>
        <p:spPr>
          <a:xfrm>
            <a:off x="2920916" y="245736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941900" y="1270175"/>
            <a:ext cx="10441500" cy="5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Lightweight Transformer-based Small Language Model specialized for mathematical reasoning.</a:t>
            </a:r>
            <a:endParaRPr b="0" i="0" sz="2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Domain-specific training using mathematical reasoning datasets (GSM8K, MathQA, MATH).</a:t>
            </a:r>
            <a:endParaRPr b="0" i="0" sz="2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Step-by-step mathematical solution generation through autoregressive decoding.</a:t>
            </a:r>
            <a:endParaRPr b="0" i="0" sz="2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Computationally efficient alternative to large language models for educational applications.</a:t>
            </a:r>
            <a:endParaRPr b="0" i="0" sz="2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Interactive web-based mathematical problem-solving interface using Streamlit.</a:t>
            </a:r>
            <a:endParaRPr b="0" i="0" sz="2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End-to-end implementation of a Transformer-based mathematical reasoning pipeline using PyTorch.</a:t>
            </a:r>
            <a:endParaRPr b="0" i="0" sz="2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CREATIVITY &amp; NOVELTY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6618421" y="981504"/>
            <a:ext cx="43317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Creativity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intermediate reasoning steps instead of only final answers.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multiple configurable generation strategies.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an interactive interface for real-time mathematical queries.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computationally efficient mathematical reasoning.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36"/>
          <p:cNvSpPr txBox="1"/>
          <p:nvPr/>
        </p:nvSpPr>
        <p:spPr>
          <a:xfrm>
            <a:off x="851487" y="916189"/>
            <a:ext cx="44757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a </a:t>
            </a:r>
            <a:r>
              <a:rPr b="1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Language Model</a:t>
            </a: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Transformer-based mathematical reasoning.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specifically for mathematical problem solving.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Targets resource-constrained educational environments.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foundation for domain-specific mathematical intelligence.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9" name="Google Shape;249;p36"/>
          <p:cNvCxnSpPr/>
          <p:nvPr/>
        </p:nvCxnSpPr>
        <p:spPr>
          <a:xfrm>
            <a:off x="6018245" y="806448"/>
            <a:ext cx="0" cy="628481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7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7"/>
          <p:cNvSpPr txBox="1"/>
          <p:nvPr/>
        </p:nvSpPr>
        <p:spPr>
          <a:xfrm>
            <a:off x="1085401" y="862425"/>
            <a:ext cx="10403700" cy="6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1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Framework - </a:t>
            </a:r>
            <a:r>
              <a:rPr b="0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PyTorch 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AutoNum type="arabicPeriod"/>
            </a:pPr>
            <a:r>
              <a:rPr b="1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Architecture</a:t>
            </a:r>
            <a:r>
              <a:rPr b="0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Decoder-only Transformer 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AutoNum type="arabicPeriod"/>
            </a:pPr>
            <a:r>
              <a:rPr b="1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- </a:t>
            </a:r>
            <a:r>
              <a:rPr b="0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training, Next-token prediction, Autoregressive text generation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AutoNum type="arabicPeriod"/>
            </a:pPr>
            <a:r>
              <a:rPr b="1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  - </a:t>
            </a:r>
            <a:r>
              <a:rPr b="0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GSM8K ,   MathQA ,   MATH Dataset , 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NuminaMath </a:t>
            </a:r>
            <a:r>
              <a:rPr b="0" i="1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(Optional)</a:t>
            </a:r>
            <a:r>
              <a:rPr b="0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IN" sz="2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/>
          <p:nvPr/>
        </p:nvSpPr>
        <p:spPr>
          <a:xfrm>
            <a:off x="3736109" y="221673"/>
            <a:ext cx="4719900" cy="5172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8"/>
          <p:cNvSpPr txBox="1"/>
          <p:nvPr/>
        </p:nvSpPr>
        <p:spPr>
          <a:xfrm>
            <a:off x="2660072" y="193965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PLAN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9350" y="1619250"/>
            <a:ext cx="19200" cy="352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38"/>
          <p:cNvGrpSpPr/>
          <p:nvPr/>
        </p:nvGrpSpPr>
        <p:grpSpPr>
          <a:xfrm>
            <a:off x="1809750" y="1428750"/>
            <a:ext cx="8572500" cy="400200"/>
            <a:chOff x="0" y="0"/>
            <a:chExt cx="8572500" cy="400200"/>
          </a:xfrm>
        </p:grpSpPr>
        <p:sp>
          <p:nvSpPr>
            <p:cNvPr id="267" name="Google Shape;267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fmla="val 50000" name="adj"/>
              </a:avLst>
            </a:prstGeom>
            <a:solidFill>
              <a:srgbClr val="660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IN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1</a:t>
              </a:r>
              <a:endParaRPr b="1" i="0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Literature Survey &amp; Requirement Analysis</a:t>
              </a:r>
              <a:endParaRPr b="1" i="0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38"/>
          <p:cNvGrpSpPr/>
          <p:nvPr/>
        </p:nvGrpSpPr>
        <p:grpSpPr>
          <a:xfrm>
            <a:off x="1809750" y="2095500"/>
            <a:ext cx="8572500" cy="400200"/>
            <a:chOff x="0" y="0"/>
            <a:chExt cx="8572500" cy="400200"/>
          </a:xfrm>
        </p:grpSpPr>
        <p:sp>
          <p:nvSpPr>
            <p:cNvPr id="271" name="Google Shape;271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fmla="val 50000" name="adj"/>
              </a:avLst>
            </a:prstGeom>
            <a:solidFill>
              <a:srgbClr val="660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IN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2</a:t>
              </a:r>
              <a:endParaRPr b="1" i="0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Mathematical Dataset Collection &amp; Data Preprocessing</a:t>
              </a:r>
              <a:endParaRPr b="1" i="0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38"/>
          <p:cNvGrpSpPr/>
          <p:nvPr/>
        </p:nvGrpSpPr>
        <p:grpSpPr>
          <a:xfrm>
            <a:off x="1809750" y="2762250"/>
            <a:ext cx="8572500" cy="400200"/>
            <a:chOff x="0" y="0"/>
            <a:chExt cx="8572500" cy="400200"/>
          </a:xfrm>
        </p:grpSpPr>
        <p:sp>
          <p:nvSpPr>
            <p:cNvPr id="275" name="Google Shape;275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fmla="val 50000" name="adj"/>
              </a:avLst>
            </a:prstGeom>
            <a:solidFill>
              <a:srgbClr val="660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IN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3</a:t>
              </a:r>
              <a:endParaRPr b="1" i="0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Tokenization &amp; Dataset Preparation</a:t>
              </a:r>
              <a:endParaRPr b="1" i="0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8" name="Google Shape;278;p38"/>
          <p:cNvGrpSpPr/>
          <p:nvPr/>
        </p:nvGrpSpPr>
        <p:grpSpPr>
          <a:xfrm>
            <a:off x="1809750" y="3429000"/>
            <a:ext cx="8572500" cy="400200"/>
            <a:chOff x="0" y="0"/>
            <a:chExt cx="8572500" cy="400200"/>
          </a:xfrm>
        </p:grpSpPr>
        <p:sp>
          <p:nvSpPr>
            <p:cNvPr id="279" name="Google Shape;279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fmla="val 50000" name="adj"/>
              </a:avLst>
            </a:prstGeom>
            <a:solidFill>
              <a:srgbClr val="660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IN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4</a:t>
              </a:r>
              <a:endParaRPr b="1" i="0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Transformer Model Development &amp; Training</a:t>
              </a:r>
              <a:endParaRPr b="1" i="0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38"/>
          <p:cNvGrpSpPr/>
          <p:nvPr/>
        </p:nvGrpSpPr>
        <p:grpSpPr>
          <a:xfrm>
            <a:off x="1809750" y="4095750"/>
            <a:ext cx="8572500" cy="400200"/>
            <a:chOff x="0" y="0"/>
            <a:chExt cx="8572500" cy="400200"/>
          </a:xfrm>
        </p:grpSpPr>
        <p:sp>
          <p:nvSpPr>
            <p:cNvPr id="283" name="Google Shape;283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fmla="val 50000" name="adj"/>
              </a:avLst>
            </a:prstGeom>
            <a:solidFill>
              <a:srgbClr val="660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IN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5</a:t>
              </a:r>
              <a:endParaRPr b="1" i="0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Model Evaluation &amp; Mathematical Reasoning Testing</a:t>
              </a:r>
              <a:endParaRPr b="1" i="0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38"/>
          <p:cNvGrpSpPr/>
          <p:nvPr/>
        </p:nvGrpSpPr>
        <p:grpSpPr>
          <a:xfrm>
            <a:off x="1809750" y="4762500"/>
            <a:ext cx="8572500" cy="400200"/>
            <a:chOff x="0" y="0"/>
            <a:chExt cx="8572500" cy="400200"/>
          </a:xfrm>
        </p:grpSpPr>
        <p:sp>
          <p:nvSpPr>
            <p:cNvPr id="287" name="Google Shape;287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fmla="val 50000" name="adj"/>
              </a:avLst>
            </a:prstGeom>
            <a:solidFill>
              <a:srgbClr val="660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IN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6</a:t>
              </a:r>
              <a:endParaRPr b="1" i="0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Streamlit Web Application Development &amp; Model Integration</a:t>
              </a:r>
              <a:endParaRPr b="1" i="0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38"/>
          <p:cNvGrpSpPr/>
          <p:nvPr/>
        </p:nvGrpSpPr>
        <p:grpSpPr>
          <a:xfrm>
            <a:off x="1809750" y="5429250"/>
            <a:ext cx="8572500" cy="400200"/>
            <a:chOff x="0" y="0"/>
            <a:chExt cx="8572500" cy="400200"/>
          </a:xfrm>
        </p:grpSpPr>
        <p:sp>
          <p:nvSpPr>
            <p:cNvPr id="291" name="Google Shape;291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fmla="val 50000" name="adj"/>
              </a:avLst>
            </a:prstGeom>
            <a:solidFill>
              <a:srgbClr val="660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IN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7</a:t>
              </a:r>
              <a:endParaRPr b="1" i="0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Documentation, Testing &amp; Final Presentation</a:t>
              </a:r>
              <a:endParaRPr b="1" i="0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9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EXPECTED OUTCOME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1024025" y="1264225"/>
            <a:ext cx="104652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b="0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Small Language Model for mathematical reasoning.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b="0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Step-by-step mathematical solution generation.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b="0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mathematical reasoning through a web interface.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b="0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learning experience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b="0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conceptual understanding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2660072" y="221673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0"/>
          <p:cNvSpPr txBox="1"/>
          <p:nvPr/>
        </p:nvSpPr>
        <p:spPr>
          <a:xfrm>
            <a:off x="691400" y="1691662"/>
            <a:ext cx="109227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Preprocessing: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Compiling robust reasoning datasets including GSM8K, MathQA, and MATH.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Mathematical Tokenization: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Utilizing Hugging Face and Byte-Pair Encoding (BPE) to accurately parse numbers and formulas.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 Preparation: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Structuring data into Input IDs, Attention Masks, and Labels for Transformer ingestion.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Next-Token Prediction: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core learning mechanism where the model predicts logical sequential steps based on previous tokens.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1"/>
          <p:cNvSpPr txBox="1"/>
          <p:nvPr/>
        </p:nvSpPr>
        <p:spPr>
          <a:xfrm>
            <a:off x="2660072" y="193965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1"/>
          <p:cNvSpPr txBox="1"/>
          <p:nvPr/>
        </p:nvSpPr>
        <p:spPr>
          <a:xfrm>
            <a:off x="702529" y="968034"/>
            <a:ext cx="10152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3810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75" y="2336084"/>
            <a:ext cx="11767676" cy="21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/>
          <p:nvPr/>
        </p:nvSpPr>
        <p:spPr>
          <a:xfrm>
            <a:off x="3736109" y="221673"/>
            <a:ext cx="4719900" cy="5172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2"/>
          <p:cNvSpPr txBox="1"/>
          <p:nvPr/>
        </p:nvSpPr>
        <p:spPr>
          <a:xfrm>
            <a:off x="2660072" y="193965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MODERN TOOLS &amp; TECHNOLOGY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42"/>
          <p:cNvGrpSpPr/>
          <p:nvPr/>
        </p:nvGrpSpPr>
        <p:grpSpPr>
          <a:xfrm>
            <a:off x="571500" y="1143000"/>
            <a:ext cx="2095500" cy="5048400"/>
            <a:chOff x="0" y="0"/>
            <a:chExt cx="2095500" cy="5048400"/>
          </a:xfrm>
        </p:grpSpPr>
        <p:sp>
          <p:nvSpPr>
            <p:cNvPr id="324" name="Google Shape;324;p42"/>
            <p:cNvSpPr/>
            <p:nvPr/>
          </p:nvSpPr>
          <p:spPr>
            <a:xfrm>
              <a:off x="0" y="0"/>
              <a:ext cx="2095500" cy="5048400"/>
            </a:xfrm>
            <a:prstGeom prst="roundRect">
              <a:avLst>
                <a:gd fmla="val 4545" name="adj"/>
              </a:avLst>
            </a:prstGeom>
            <a:solidFill>
              <a:srgbClr val="F8F9FA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2"/>
            <p:cNvSpPr/>
            <p:nvPr/>
          </p:nvSpPr>
          <p:spPr>
            <a:xfrm>
              <a:off x="0" y="0"/>
              <a:ext cx="2095500" cy="76200"/>
            </a:xfrm>
            <a:prstGeom prst="roundRect">
              <a:avLst>
                <a:gd fmla="val 50000" name="adj"/>
              </a:avLst>
            </a:prstGeom>
            <a:solidFill>
              <a:srgbClr val="660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2"/>
            <p:cNvSpPr txBox="1"/>
            <p:nvPr/>
          </p:nvSpPr>
          <p:spPr>
            <a:xfrm>
              <a:off x="152400" y="228600"/>
              <a:ext cx="17907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500">
                  <a:solidFill>
                    <a:srgbClr val="660066"/>
                  </a:solidFill>
                  <a:latin typeface="Calibri"/>
                  <a:ea typeface="Calibri"/>
                  <a:cs typeface="Calibri"/>
                  <a:sym typeface="Calibri"/>
                </a:rPr>
                <a:t>Data &amp; Tokenization</a:t>
              </a:r>
              <a:endParaRPr b="1" sz="1500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Hugging Face Datasets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Hugging Face Tokenizers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Custom Digit-Aware BPE Tokenizer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42"/>
          <p:cNvGrpSpPr/>
          <p:nvPr/>
        </p:nvGrpSpPr>
        <p:grpSpPr>
          <a:xfrm>
            <a:off x="2809875" y="1143000"/>
            <a:ext cx="2095500" cy="5048400"/>
            <a:chOff x="0" y="0"/>
            <a:chExt cx="2095500" cy="5048400"/>
          </a:xfrm>
        </p:grpSpPr>
        <p:sp>
          <p:nvSpPr>
            <p:cNvPr id="328" name="Google Shape;328;p42"/>
            <p:cNvSpPr/>
            <p:nvPr/>
          </p:nvSpPr>
          <p:spPr>
            <a:xfrm>
              <a:off x="0" y="0"/>
              <a:ext cx="2095500" cy="5048400"/>
            </a:xfrm>
            <a:prstGeom prst="roundRect">
              <a:avLst>
                <a:gd fmla="val 4545" name="adj"/>
              </a:avLst>
            </a:prstGeom>
            <a:solidFill>
              <a:srgbClr val="F8F9FA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2"/>
            <p:cNvSpPr/>
            <p:nvPr/>
          </p:nvSpPr>
          <p:spPr>
            <a:xfrm>
              <a:off x="0" y="0"/>
              <a:ext cx="2095500" cy="76200"/>
            </a:xfrm>
            <a:prstGeom prst="roundRect">
              <a:avLst>
                <a:gd fmla="val 50000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2"/>
            <p:cNvSpPr txBox="1"/>
            <p:nvPr/>
          </p:nvSpPr>
          <p:spPr>
            <a:xfrm>
              <a:off x="152400" y="228600"/>
              <a:ext cx="17907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5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Model Architecture</a:t>
              </a:r>
              <a:endParaRPr b="1" sz="15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PyTorch (torch.nn)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Custom Decoder-Only Transformer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Rotary Position Embeddings (RoPE)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42"/>
          <p:cNvGrpSpPr/>
          <p:nvPr/>
        </p:nvGrpSpPr>
        <p:grpSpPr>
          <a:xfrm>
            <a:off x="5048250" y="1143000"/>
            <a:ext cx="2095500" cy="5048400"/>
            <a:chOff x="0" y="0"/>
            <a:chExt cx="2095500" cy="5048400"/>
          </a:xfrm>
        </p:grpSpPr>
        <p:sp>
          <p:nvSpPr>
            <p:cNvPr id="332" name="Google Shape;332;p42"/>
            <p:cNvSpPr/>
            <p:nvPr/>
          </p:nvSpPr>
          <p:spPr>
            <a:xfrm>
              <a:off x="0" y="0"/>
              <a:ext cx="2095500" cy="5048400"/>
            </a:xfrm>
            <a:prstGeom prst="roundRect">
              <a:avLst>
                <a:gd fmla="val 4545" name="adj"/>
              </a:avLst>
            </a:prstGeom>
            <a:solidFill>
              <a:srgbClr val="F8F9FA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2"/>
            <p:cNvSpPr/>
            <p:nvPr/>
          </p:nvSpPr>
          <p:spPr>
            <a:xfrm>
              <a:off x="0" y="0"/>
              <a:ext cx="2095500" cy="76200"/>
            </a:xfrm>
            <a:prstGeom prst="roundRect">
              <a:avLst>
                <a:gd fmla="val 50000" name="adj"/>
              </a:avLst>
            </a:prstGeom>
            <a:solidFill>
              <a:srgbClr val="660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2"/>
            <p:cNvSpPr txBox="1"/>
            <p:nvPr/>
          </p:nvSpPr>
          <p:spPr>
            <a:xfrm>
              <a:off x="152400" y="228600"/>
              <a:ext cx="17907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500">
                  <a:solidFill>
                    <a:srgbClr val="660066"/>
                  </a:solidFill>
                  <a:latin typeface="Calibri"/>
                  <a:ea typeface="Calibri"/>
                  <a:cs typeface="Calibri"/>
                  <a:sym typeface="Calibri"/>
                </a:rPr>
                <a:t>Training &amp; Optimization</a:t>
              </a:r>
              <a:endParaRPr b="1" sz="1500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AdamW Optimizer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AMP Mixed Precision (torch.cuda.amp)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Curriculum Sampling Strategy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42"/>
          <p:cNvGrpSpPr/>
          <p:nvPr/>
        </p:nvGrpSpPr>
        <p:grpSpPr>
          <a:xfrm>
            <a:off x="7286625" y="1143000"/>
            <a:ext cx="2095500" cy="5048400"/>
            <a:chOff x="0" y="0"/>
            <a:chExt cx="2095500" cy="5048400"/>
          </a:xfrm>
        </p:grpSpPr>
        <p:sp>
          <p:nvSpPr>
            <p:cNvPr id="336" name="Google Shape;336;p42"/>
            <p:cNvSpPr/>
            <p:nvPr/>
          </p:nvSpPr>
          <p:spPr>
            <a:xfrm>
              <a:off x="0" y="0"/>
              <a:ext cx="2095500" cy="5048400"/>
            </a:xfrm>
            <a:prstGeom prst="roundRect">
              <a:avLst>
                <a:gd fmla="val 4545" name="adj"/>
              </a:avLst>
            </a:prstGeom>
            <a:solidFill>
              <a:srgbClr val="F8F9FA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2"/>
            <p:cNvSpPr/>
            <p:nvPr/>
          </p:nvSpPr>
          <p:spPr>
            <a:xfrm>
              <a:off x="0" y="0"/>
              <a:ext cx="2095500" cy="76200"/>
            </a:xfrm>
            <a:prstGeom prst="roundRect">
              <a:avLst>
                <a:gd fmla="val 50000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2"/>
            <p:cNvSpPr txBox="1"/>
            <p:nvPr/>
          </p:nvSpPr>
          <p:spPr>
            <a:xfrm>
              <a:off x="152400" y="228600"/>
              <a:ext cx="17907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5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Verification &amp; Evaluation</a:t>
              </a:r>
              <a:endParaRPr b="1" sz="15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SymPy Symbolic Verification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Custom Evaluation Metrics Suite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Matplotlib (Loss &amp; Metric Curves)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Google Shape;339;p42"/>
          <p:cNvGrpSpPr/>
          <p:nvPr/>
        </p:nvGrpSpPr>
        <p:grpSpPr>
          <a:xfrm>
            <a:off x="9525000" y="1143000"/>
            <a:ext cx="2095500" cy="5048400"/>
            <a:chOff x="0" y="0"/>
            <a:chExt cx="2095500" cy="5048400"/>
          </a:xfrm>
        </p:grpSpPr>
        <p:sp>
          <p:nvSpPr>
            <p:cNvPr id="340" name="Google Shape;340;p42"/>
            <p:cNvSpPr/>
            <p:nvPr/>
          </p:nvSpPr>
          <p:spPr>
            <a:xfrm>
              <a:off x="0" y="0"/>
              <a:ext cx="2095500" cy="5048400"/>
            </a:xfrm>
            <a:prstGeom prst="roundRect">
              <a:avLst>
                <a:gd fmla="val 4545" name="adj"/>
              </a:avLst>
            </a:prstGeom>
            <a:solidFill>
              <a:srgbClr val="F8F9FA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2"/>
            <p:cNvSpPr/>
            <p:nvPr/>
          </p:nvSpPr>
          <p:spPr>
            <a:xfrm>
              <a:off x="0" y="0"/>
              <a:ext cx="2095500" cy="76200"/>
            </a:xfrm>
            <a:prstGeom prst="roundRect">
              <a:avLst>
                <a:gd fmla="val 50000" name="adj"/>
              </a:avLst>
            </a:prstGeom>
            <a:solidFill>
              <a:srgbClr val="660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2"/>
            <p:cNvSpPr txBox="1"/>
            <p:nvPr/>
          </p:nvSpPr>
          <p:spPr>
            <a:xfrm>
              <a:off x="152400" y="228600"/>
              <a:ext cx="17907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500">
                  <a:solidFill>
                    <a:srgbClr val="660066"/>
                  </a:solidFill>
                  <a:latin typeface="Calibri"/>
                  <a:ea typeface="Calibri"/>
                  <a:cs typeface="Calibri"/>
                  <a:sym typeface="Calibri"/>
                </a:rPr>
                <a:t>Interface &amp; Baselines</a:t>
              </a:r>
              <a:endParaRPr b="1" sz="1500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Streamlit Web Application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E293B"/>
                </a:buClr>
                <a:buSzPts val="1200"/>
                <a:buFont typeface="Calibri"/>
                <a:buChar char="●"/>
              </a:pPr>
              <a:r>
                <a:rPr lang="en-IN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Hugging Face Transformers (Literature Baselines)</a:t>
              </a:r>
              <a:endParaRPr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/>
          <p:nvPr/>
        </p:nvSpPr>
        <p:spPr>
          <a:xfrm>
            <a:off x="3736109" y="221673"/>
            <a:ext cx="4719900" cy="5172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3"/>
          <p:cNvSpPr txBox="1"/>
          <p:nvPr/>
        </p:nvSpPr>
        <p:spPr>
          <a:xfrm>
            <a:off x="2660072" y="193965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43"/>
          <p:cNvGrpSpPr/>
          <p:nvPr/>
        </p:nvGrpSpPr>
        <p:grpSpPr>
          <a:xfrm>
            <a:off x="571500" y="1333500"/>
            <a:ext cx="3429000" cy="4762500"/>
            <a:chOff x="0" y="0"/>
            <a:chExt cx="3429000" cy="4762500"/>
          </a:xfrm>
        </p:grpSpPr>
        <p:sp>
          <p:nvSpPr>
            <p:cNvPr id="350" name="Google Shape;350;p43"/>
            <p:cNvSpPr/>
            <p:nvPr/>
          </p:nvSpPr>
          <p:spPr>
            <a:xfrm>
              <a:off x="0" y="0"/>
              <a:ext cx="3429000" cy="4762500"/>
            </a:xfrm>
            <a:prstGeom prst="roundRect">
              <a:avLst>
                <a:gd fmla="val 3333" name="adj"/>
              </a:avLst>
            </a:prstGeom>
            <a:solidFill>
              <a:srgbClr val="F8F9FA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3"/>
            <p:cNvSpPr/>
            <p:nvPr/>
          </p:nvSpPr>
          <p:spPr>
            <a:xfrm>
              <a:off x="0" y="0"/>
              <a:ext cx="3429000" cy="76200"/>
            </a:xfrm>
            <a:prstGeom prst="roundRect">
              <a:avLst>
                <a:gd fmla="val 50000" name="adj"/>
              </a:avLst>
            </a:prstGeom>
            <a:solidFill>
              <a:srgbClr val="660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3"/>
            <p:cNvSpPr/>
            <p:nvPr/>
          </p:nvSpPr>
          <p:spPr>
            <a:xfrm>
              <a:off x="228600" y="266700"/>
              <a:ext cx="457200" cy="457200"/>
            </a:xfrm>
            <a:prstGeom prst="roundRect">
              <a:avLst>
                <a:gd fmla="val 50000" name="adj"/>
              </a:avLst>
            </a:pr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3"/>
            <p:cNvSpPr txBox="1"/>
            <p:nvPr/>
          </p:nvSpPr>
          <p:spPr>
            <a:xfrm>
              <a:off x="228600" y="2667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rgbClr val="660066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1800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43"/>
            <p:cNvSpPr txBox="1"/>
            <p:nvPr/>
          </p:nvSpPr>
          <p:spPr>
            <a:xfrm>
              <a:off x="228600" y="876300"/>
              <a:ext cx="29718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660066"/>
                  </a:solidFill>
                  <a:latin typeface="Calibri"/>
                  <a:ea typeface="Calibri"/>
                  <a:cs typeface="Calibri"/>
                  <a:sym typeface="Calibri"/>
                </a:rPr>
                <a:t>Pattern Recognition</a:t>
              </a:r>
              <a:endParaRPr b="1" sz="2000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IN" sz="13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Trained via supervised learning on vast mathematical datasets to recognize complex problem-solving patterns.</a:t>
              </a:r>
              <a:endParaRPr b="0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p43"/>
          <p:cNvGrpSpPr/>
          <p:nvPr/>
        </p:nvGrpSpPr>
        <p:grpSpPr>
          <a:xfrm>
            <a:off x="4381500" y="1333500"/>
            <a:ext cx="3429000" cy="4762500"/>
            <a:chOff x="0" y="0"/>
            <a:chExt cx="3429000" cy="4762500"/>
          </a:xfrm>
        </p:grpSpPr>
        <p:sp>
          <p:nvSpPr>
            <p:cNvPr id="356" name="Google Shape;356;p43"/>
            <p:cNvSpPr/>
            <p:nvPr/>
          </p:nvSpPr>
          <p:spPr>
            <a:xfrm>
              <a:off x="0" y="0"/>
              <a:ext cx="3429000" cy="4762500"/>
            </a:xfrm>
            <a:prstGeom prst="roundRect">
              <a:avLst>
                <a:gd fmla="val 3333" name="adj"/>
              </a:avLst>
            </a:prstGeom>
            <a:solidFill>
              <a:srgbClr val="F8F9FA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3"/>
            <p:cNvSpPr/>
            <p:nvPr/>
          </p:nvSpPr>
          <p:spPr>
            <a:xfrm>
              <a:off x="0" y="0"/>
              <a:ext cx="3429000" cy="76200"/>
            </a:xfrm>
            <a:prstGeom prst="roundRect">
              <a:avLst>
                <a:gd fmla="val 50000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3"/>
            <p:cNvSpPr/>
            <p:nvPr/>
          </p:nvSpPr>
          <p:spPr>
            <a:xfrm>
              <a:off x="228600" y="266700"/>
              <a:ext cx="457200" cy="457200"/>
            </a:xfrm>
            <a:prstGeom prst="roundRect">
              <a:avLst>
                <a:gd fmla="val 5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3"/>
            <p:cNvSpPr txBox="1"/>
            <p:nvPr/>
          </p:nvSpPr>
          <p:spPr>
            <a:xfrm>
              <a:off x="228600" y="2667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43"/>
            <p:cNvSpPr txBox="1"/>
            <p:nvPr/>
          </p:nvSpPr>
          <p:spPr>
            <a:xfrm>
              <a:off x="228600" y="876300"/>
              <a:ext cx="29718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Autoregressive Reasoning</a:t>
              </a:r>
              <a:endParaRPr b="1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IN" sz="13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The framework learns to generate logical, intermediate reasoning steps sequentially (token-by-token).</a:t>
              </a:r>
              <a:endParaRPr b="0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p43"/>
          <p:cNvGrpSpPr/>
          <p:nvPr/>
        </p:nvGrpSpPr>
        <p:grpSpPr>
          <a:xfrm>
            <a:off x="8191500" y="1333500"/>
            <a:ext cx="3429000" cy="4762500"/>
            <a:chOff x="0" y="0"/>
            <a:chExt cx="3429000" cy="4762500"/>
          </a:xfrm>
        </p:grpSpPr>
        <p:sp>
          <p:nvSpPr>
            <p:cNvPr id="362" name="Google Shape;362;p43"/>
            <p:cNvSpPr/>
            <p:nvPr/>
          </p:nvSpPr>
          <p:spPr>
            <a:xfrm>
              <a:off x="0" y="0"/>
              <a:ext cx="3429000" cy="4762500"/>
            </a:xfrm>
            <a:prstGeom prst="roundRect">
              <a:avLst>
                <a:gd fmla="val 3333" name="adj"/>
              </a:avLst>
            </a:prstGeom>
            <a:solidFill>
              <a:srgbClr val="F8F9FA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3"/>
            <p:cNvSpPr/>
            <p:nvPr/>
          </p:nvSpPr>
          <p:spPr>
            <a:xfrm>
              <a:off x="0" y="0"/>
              <a:ext cx="3429000" cy="76200"/>
            </a:xfrm>
            <a:prstGeom prst="roundRect">
              <a:avLst>
                <a:gd fmla="val 50000" name="adj"/>
              </a:avLst>
            </a:prstGeom>
            <a:solidFill>
              <a:srgbClr val="660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3"/>
            <p:cNvSpPr/>
            <p:nvPr/>
          </p:nvSpPr>
          <p:spPr>
            <a:xfrm>
              <a:off x="228600" y="266700"/>
              <a:ext cx="457200" cy="457200"/>
            </a:xfrm>
            <a:prstGeom prst="roundRect">
              <a:avLst>
                <a:gd fmla="val 50000" name="adj"/>
              </a:avLst>
            </a:pr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3"/>
            <p:cNvSpPr txBox="1"/>
            <p:nvPr/>
          </p:nvSpPr>
          <p:spPr>
            <a:xfrm>
              <a:off x="228600" y="2667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rgbClr val="660066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1800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43"/>
            <p:cNvSpPr txBox="1"/>
            <p:nvPr/>
          </p:nvSpPr>
          <p:spPr>
            <a:xfrm>
              <a:off x="228600" y="876300"/>
              <a:ext cx="29718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660066"/>
                  </a:solidFill>
                  <a:latin typeface="Calibri"/>
                  <a:ea typeface="Calibri"/>
                  <a:cs typeface="Calibri"/>
                  <a:sym typeface="Calibri"/>
                </a:rPr>
                <a:t>Accuracy &amp; Transparency</a:t>
              </a:r>
              <a:endParaRPr b="1" sz="2000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IN" sz="13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Forcing the model to explicitly output these intermediate steps before the final answer dramatically improves overall accuracy and computational transparency.</a:t>
              </a:r>
              <a:endParaRPr b="0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/>
          <p:nvPr/>
        </p:nvSpPr>
        <p:spPr>
          <a:xfrm>
            <a:off x="3736109" y="221673"/>
            <a:ext cx="4719900" cy="5172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4"/>
          <p:cNvSpPr txBox="1"/>
          <p:nvPr/>
        </p:nvSpPr>
        <p:spPr>
          <a:xfrm>
            <a:off x="2660072" y="193965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4"/>
          <p:cNvSpPr txBox="1"/>
          <p:nvPr/>
        </p:nvSpPr>
        <p:spPr>
          <a:xfrm>
            <a:off x="2660075" y="876300"/>
            <a:ext cx="687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EFFICIENT INTELLIGENCE</a:t>
            </a:r>
            <a:endParaRPr b="1" sz="1500">
              <a:solidFill>
                <a:srgbClr val="66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4" name="Google Shape;374;p44"/>
          <p:cNvGrpSpPr/>
          <p:nvPr/>
        </p:nvGrpSpPr>
        <p:grpSpPr>
          <a:xfrm>
            <a:off x="762000" y="1381125"/>
            <a:ext cx="5143500" cy="4857900"/>
            <a:chOff x="0" y="0"/>
            <a:chExt cx="5143500" cy="4857900"/>
          </a:xfrm>
        </p:grpSpPr>
        <p:sp>
          <p:nvSpPr>
            <p:cNvPr id="375" name="Google Shape;375;p44"/>
            <p:cNvSpPr/>
            <p:nvPr/>
          </p:nvSpPr>
          <p:spPr>
            <a:xfrm>
              <a:off x="0" y="0"/>
              <a:ext cx="5143500" cy="4857900"/>
            </a:xfrm>
            <a:prstGeom prst="roundRect">
              <a:avLst>
                <a:gd fmla="val 2352" name="adj"/>
              </a:avLst>
            </a:prstGeom>
            <a:solidFill>
              <a:srgbClr val="F8F9FA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0" y="0"/>
              <a:ext cx="5143500" cy="76200"/>
            </a:xfrm>
            <a:prstGeom prst="roundRect">
              <a:avLst>
                <a:gd fmla="val 50000" name="adj"/>
              </a:avLst>
            </a:prstGeom>
            <a:solidFill>
              <a:srgbClr val="660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4"/>
            <p:cNvSpPr/>
            <p:nvPr/>
          </p:nvSpPr>
          <p:spPr>
            <a:xfrm>
              <a:off x="304800" y="304800"/>
              <a:ext cx="1714500" cy="362100"/>
            </a:xfrm>
            <a:prstGeom prst="roundRect">
              <a:avLst>
                <a:gd fmla="val 50000" name="adj"/>
              </a:avLst>
            </a:pr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4"/>
            <p:cNvSpPr txBox="1"/>
            <p:nvPr/>
          </p:nvSpPr>
          <p:spPr>
            <a:xfrm>
              <a:off x="304800" y="304800"/>
              <a:ext cx="1714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100">
                  <a:solidFill>
                    <a:srgbClr val="660066"/>
                  </a:solidFill>
                  <a:latin typeface="Calibri"/>
                  <a:ea typeface="Calibri"/>
                  <a:cs typeface="Calibri"/>
                  <a:sym typeface="Calibri"/>
                </a:rPr>
                <a:t>KEY CAPABILITY</a:t>
              </a:r>
              <a:endParaRPr b="1" sz="1100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44"/>
            <p:cNvSpPr txBox="1"/>
            <p:nvPr/>
          </p:nvSpPr>
          <p:spPr>
            <a:xfrm>
              <a:off x="304800" y="914400"/>
              <a:ext cx="45339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200">
                  <a:solidFill>
                    <a:srgbClr val="660066"/>
                  </a:solidFill>
                  <a:latin typeface="Calibri"/>
                  <a:ea typeface="Calibri"/>
                  <a:cs typeface="Calibri"/>
                  <a:sym typeface="Calibri"/>
                </a:rPr>
                <a:t>Specialized SLM Performance</a:t>
              </a:r>
              <a:endParaRPr b="1" sz="2200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IN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MathSLM successfully demonstrates the practical capabilities of Small Language Models in specialized domains.</a:t>
              </a:r>
              <a:endParaRPr b="0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" name="Google Shape;380;p44"/>
          <p:cNvGrpSpPr/>
          <p:nvPr/>
        </p:nvGrpSpPr>
        <p:grpSpPr>
          <a:xfrm>
            <a:off x="6286500" y="1381125"/>
            <a:ext cx="5143500" cy="4857900"/>
            <a:chOff x="0" y="0"/>
            <a:chExt cx="5143500" cy="4857900"/>
          </a:xfrm>
        </p:grpSpPr>
        <p:sp>
          <p:nvSpPr>
            <p:cNvPr id="381" name="Google Shape;381;p44"/>
            <p:cNvSpPr/>
            <p:nvPr/>
          </p:nvSpPr>
          <p:spPr>
            <a:xfrm>
              <a:off x="0" y="0"/>
              <a:ext cx="5143500" cy="4857900"/>
            </a:xfrm>
            <a:prstGeom prst="roundRect">
              <a:avLst>
                <a:gd fmla="val 2352" name="adj"/>
              </a:avLst>
            </a:prstGeom>
            <a:solidFill>
              <a:srgbClr val="F8F9FA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4"/>
            <p:cNvSpPr/>
            <p:nvPr/>
          </p:nvSpPr>
          <p:spPr>
            <a:xfrm>
              <a:off x="0" y="0"/>
              <a:ext cx="5143500" cy="76200"/>
            </a:xfrm>
            <a:prstGeom prst="roundRect">
              <a:avLst>
                <a:gd fmla="val 50000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4"/>
            <p:cNvSpPr/>
            <p:nvPr/>
          </p:nvSpPr>
          <p:spPr>
            <a:xfrm>
              <a:off x="304800" y="304800"/>
              <a:ext cx="2000100" cy="362100"/>
            </a:xfrm>
            <a:prstGeom prst="roundRect">
              <a:avLst>
                <a:gd fmla="val 5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4"/>
            <p:cNvSpPr txBox="1"/>
            <p:nvPr/>
          </p:nvSpPr>
          <p:spPr>
            <a:xfrm>
              <a:off x="304800" y="304800"/>
              <a:ext cx="2000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1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COST &amp; ACCESSIBILITY</a:t>
              </a:r>
              <a:endParaRPr b="1" sz="11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44"/>
            <p:cNvSpPr txBox="1"/>
            <p:nvPr/>
          </p:nvSpPr>
          <p:spPr>
            <a:xfrm>
              <a:off x="304800" y="914400"/>
              <a:ext cx="45339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Lightweight Reasoning Assistant</a:t>
              </a:r>
              <a:endParaRPr b="1" sz="2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IN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It provides an accessible, lightweight mathematical reasoning assistant that circumvents the immense computational costs typically associated with Large Language Models, making it highly suitable for educational and resource-constrained environments.</a:t>
              </a:r>
              <a:endParaRPr b="0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5"/>
          <p:cNvSpPr/>
          <p:nvPr/>
        </p:nvSpPr>
        <p:spPr>
          <a:xfrm>
            <a:off x="3736109" y="221673"/>
            <a:ext cx="4719900" cy="5172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5"/>
          <p:cNvSpPr txBox="1"/>
          <p:nvPr/>
        </p:nvSpPr>
        <p:spPr>
          <a:xfrm>
            <a:off x="2660072" y="193965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1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5"/>
          <p:cNvSpPr txBox="1"/>
          <p:nvPr/>
        </p:nvSpPr>
        <p:spPr>
          <a:xfrm>
            <a:off x="702529" y="968034"/>
            <a:ext cx="10152600" cy="51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2413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IN" sz="1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Quantitative Metrics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2413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I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model's base learning efficiency is evaluated rigorously using training and validation loss, perplexity, and token prediction accuracy over time.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2413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IN" sz="1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Benchmarks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2413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I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Overall problem-solving capability is benchmarked against established, diverse mathematical reasoning datasets (GSM8K, MathQA, MATH).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2413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IN" sz="1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Qualitative Analysis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2413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I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Beyond final answers, generated responses are deeply assessed for logical correctness, narrative coherence, and overall reasoning quality.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2413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IN" sz="1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Sample-Based Assessment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2413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I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 sample-based evaluation is utilized to verify that the intermediate steps structurally support the final derived mathematical solution.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6"/>
          <p:cNvSpPr/>
          <p:nvPr/>
        </p:nvSpPr>
        <p:spPr>
          <a:xfrm>
            <a:off x="3736107" y="2619376"/>
            <a:ext cx="4946253" cy="1357819"/>
          </a:xfrm>
          <a:prstGeom prst="roundRect">
            <a:avLst>
              <a:gd fmla="val 16667" name="adj"/>
            </a:avLst>
          </a:prstGeom>
          <a:solidFill>
            <a:srgbClr val="660066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