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  <p:sldMasterId id="2147483675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embeddedFontLst>
    <p:embeddedFont>
      <p:font typeface="Roboto" panose="02000000000000000000" pitchFamily="2" charset="0"/>
      <p:regular r:id="rId22"/>
      <p:bold r:id="rId23"/>
      <p:italic r:id="rId24"/>
      <p:boldItalic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Play" panose="020B0604020202020204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000000"/>
          </p15:clr>
        </p15:guide>
        <p15:guide id="2" orient="horz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613CDC8-CAEC-4EE7-9EF1-4C8009B98488}">
  <a:tblStyle styleId="{1613CDC8-CAEC-4EE7-9EF1-4C8009B984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7" y="3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99166e6de_3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99166e6de_3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2296" y="64007"/>
            <a:ext cx="12015215" cy="5120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Font typeface="Calibri"/>
              <a:buNone/>
              <a:defRPr sz="11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Empt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2"/>
          </p:nvPr>
        </p:nvSpPr>
        <p:spPr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4"/>
          </p:nvPr>
        </p:nvSpPr>
        <p:spPr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>
  <p:cSld name="Titl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title"/>
          </p:nvPr>
        </p:nvSpPr>
        <p:spPr>
          <a:xfrm>
            <a:off x="82296" y="64007"/>
            <a:ext cx="12015300" cy="51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Font typeface="Calibri"/>
              <a:buNone/>
              <a:defRPr sz="11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subTitle" idx="1"/>
          </p:nvPr>
        </p:nvSpPr>
        <p:spPr>
          <a:xfrm>
            <a:off x="1088136" y="5360878"/>
            <a:ext cx="100371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Empt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2"/>
          </p:nvPr>
        </p:nvSpPr>
        <p:spPr>
          <a:xfrm>
            <a:off x="839788" y="2505074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body" idx="4"/>
          </p:nvPr>
        </p:nvSpPr>
        <p:spPr>
          <a:xfrm>
            <a:off x="6172200" y="2505074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60" name="Google Shape;160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61" name="Google Shape;16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68" name="Google Shape;16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7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8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1" name="Google Shape;11;p1" descr="KL University Hyderabad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/>
          <p:nvPr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4;p1" descr="Background pattern&#10;&#10;Description automatically generated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00" name="Google Shape;100;p15" descr="KL University Hyderabad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/>
          <p:nvPr/>
        </p:nvSpPr>
        <p:spPr>
          <a:xfrm>
            <a:off x="0" y="6811963"/>
            <a:ext cx="12192000" cy="45900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0" y="0"/>
            <a:ext cx="12192000" cy="45900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5" descr="Background pattern&#10;&#10;Description automatically generated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0" y="0"/>
            <a:ext cx="3003551" cy="300355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>
            <a:spLocks noGrp="1"/>
          </p:cNvSpPr>
          <p:nvPr>
            <p:ph type="title"/>
          </p:nvPr>
        </p:nvSpPr>
        <p:spPr>
          <a:xfrm>
            <a:off x="462890" y="2217420"/>
            <a:ext cx="11147226" cy="1389642"/>
          </a:xfrm>
          <a:prstGeom prst="rect">
            <a:avLst/>
          </a:prstGeom>
          <a:noFill/>
          <a:ln>
            <a:noFill/>
          </a:ln>
          <a:effectLst>
            <a:outerShdw blurRad="50800" dist="38100" dir="13500000" algn="br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1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sz="4400" b="1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MathSLM </a:t>
            </a:r>
            <a:r>
              <a:rPr lang="en-IN" sz="4400" b="1" cap="none">
                <a:solidFill>
                  <a:srgbClr val="66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en-IN" sz="2800" b="1" cap="none">
                <a:solidFill>
                  <a:srgbClr val="66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TRANSFORMER-BASED SMALL LANGUAGE MODEL FOR MATHEMATICAL REASONING</a:t>
            </a:r>
            <a:r>
              <a:rPr lang="en-IN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IN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400" b="1" cap="none">
              <a:solidFill>
                <a:srgbClr val="66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9"/>
          <p:cNvSpPr txBox="1">
            <a:spLocks noGrp="1"/>
          </p:cNvSpPr>
          <p:nvPr>
            <p:ph type="subTitle" idx="1"/>
          </p:nvPr>
        </p:nvSpPr>
        <p:spPr>
          <a:xfrm>
            <a:off x="2215426" y="3700317"/>
            <a:ext cx="7374194" cy="2687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IN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- 19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2420090050 –  Rupen Parthu Palavara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2420090008 – Ankit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2420030635 –Nikhil Sai</a:t>
            </a:r>
            <a:endParaRPr sz="4000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b="1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 b="1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10744200" y="221742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2890" y="388782"/>
            <a:ext cx="1790678" cy="66693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9"/>
          <p:cNvSpPr txBox="1"/>
          <p:nvPr/>
        </p:nvSpPr>
        <p:spPr>
          <a:xfrm>
            <a:off x="2803847" y="1055718"/>
            <a:ext cx="6989614" cy="945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cap="none">
                <a:solidFill>
                  <a:srgbClr val="A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Applied Machine Learning for Text Analysis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cap="none">
                <a:solidFill>
                  <a:srgbClr val="A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(24ALT3101)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0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3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0"/>
          <p:cNvSpPr txBox="1"/>
          <p:nvPr/>
        </p:nvSpPr>
        <p:spPr>
          <a:xfrm>
            <a:off x="691400" y="1691662"/>
            <a:ext cx="109227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 Large Language Models achieve strong mathematical reasoning but require significant computational resources, making them impractical for resource-constrained environments, while traditional rule-based and machine learning approaches lack generalization across diverse mathematical problems. Therefore, there is a need for a lightweight Transformer-based Small Language Model capable of efficient step-by-step mathematical reasoning.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1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sz="3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1"/>
          <p:cNvSpPr txBox="1"/>
          <p:nvPr/>
        </p:nvSpPr>
        <p:spPr>
          <a:xfrm>
            <a:off x="702529" y="968034"/>
            <a:ext cx="10152600" cy="58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25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lang="en-I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Transformer-based Small Language Model (MathSLM) for mathematical reasoning and problem solving.</a:t>
            </a:r>
            <a:endParaRPr sz="13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25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lang="en-I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the model on publicly available mathematical reasoning datasets to learn mathematical concepts and solution patterns.</a:t>
            </a:r>
            <a:endParaRPr sz="13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25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lang="en-I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accurate step-by-step solutions for mathematical problems using autoregressive text generation.</a:t>
            </a:r>
            <a:endParaRPr sz="13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25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lang="en-I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the model using metrics such as validation loss, perplexity, token prediction accuracy, and mathematical answer accuracy.</a:t>
            </a:r>
            <a:endParaRPr sz="20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191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 the trained model through an interactive Streamlit-based web application for real-time mathematical query solving.</a:t>
            </a:r>
            <a:endParaRPr sz="12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63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•"/>
            </a:pPr>
            <a: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 lightweight and computationally efficient alternative to large language models for educational and resource-constrained environments.</a:t>
            </a:r>
            <a:endParaRPr sz="19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2"/>
          <p:cNvSpPr txBox="1"/>
          <p:nvPr/>
        </p:nvSpPr>
        <p:spPr>
          <a:xfrm>
            <a:off x="2699700" y="98850"/>
            <a:ext cx="6624000" cy="585000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LITERATURE SURVEY</a:t>
            </a:r>
            <a:endParaRPr sz="3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2"/>
          <p:cNvSpPr txBox="1"/>
          <p:nvPr/>
        </p:nvSpPr>
        <p:spPr>
          <a:xfrm>
            <a:off x="460755" y="5793795"/>
            <a:ext cx="11606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Observation</a:t>
            </a:r>
            <a:endParaRPr sz="18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Current mathematical reasoning models achieve high accuracy but require large computational resources, creating the need for a lightweight Transformer-based Small Language Model.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7" name="Google Shape;217;p32"/>
          <p:cNvGraphicFramePr/>
          <p:nvPr/>
        </p:nvGraphicFramePr>
        <p:xfrm>
          <a:off x="368038" y="81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{1613CDC8-CAEC-4EE7-9EF1-4C8009B98488}</a:tableStyleId>
              </a:tblPr>
              <a:tblGrid>
                <a:gridCol w="256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9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71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/>
                        <a:t>Paper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/>
                        <a:t>Model / Approach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/>
                        <a:t>Dataset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/>
                        <a:t>Key Finding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/>
                        <a:t>Research Gap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/>
                        <a:t>Minerva: Solving Quantitative Reasoning Problems with Language Models (2022)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PaLM Fine-tuned for Mathematics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MATH, GSM8K, MMLU-STEM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Demonstrated strong mathematical reasoning using large language models with chain-of-thought generation.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Requires extremely large models and significant computational resources.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/>
                        <a:t>Training Verifiers to Solve Math Word Problems (2021)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GPT-3 + Verifier Model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GSM8K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Verification models significantly improve mathematical reasoning accuracy over direct generation.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Computationally expensive and dependent on large-scale models.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/>
                        <a:t>TinyLlama: An Open-Source Small Language Model (2024)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Decoder-Only Transformer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SlimPajama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Small language models can achieve competitive performance while requiring substantially fewer computational resources.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Not specialized for mathematical reasoning tasks.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/>
                        <a:t>Phi-2: The Surprising Power of Small Language Models (2023)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Transformer-based Small Language Model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Synthetic Textbooks + Web Data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High-quality training data enables compact language models to perform strong reasoning tasks.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General-purpose model without domain-specific mathematical optimization.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/>
                        <a:t>Qwen2.5 Technical Report (2024)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Decoder-Only Transformer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Large Multi-domain Corpus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Demonstrates strong reasoning and multilingual capabilities across various benchmark tasks.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Higher computational requirements and not designed specifically for lightweight mathematical applications.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/>
          <p:nvPr/>
        </p:nvSpPr>
        <p:spPr>
          <a:xfrm>
            <a:off x="2920916" y="245736"/>
            <a:ext cx="6871855" cy="584775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 GAP</a:t>
            </a:r>
            <a:endParaRPr sz="3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3"/>
          <p:cNvSpPr txBox="1"/>
          <p:nvPr/>
        </p:nvSpPr>
        <p:spPr>
          <a:xfrm>
            <a:off x="905069" y="1306188"/>
            <a:ext cx="10329000" cy="54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High computational and memory requirements for deployment.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marL="457200" lvl="0" indent="-381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Limited availability of lightweight models specialized for mathematical reasoning.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marL="457200" lvl="0" indent="-381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Existing small language models are primarily general-purpose and not optimized for step-by-step mathematical problem solving.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marL="457200" lvl="0" indent="-381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Traditional rule-based systems struggle to generalize across diverse mathematical domains.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marL="457200" lvl="0" indent="-381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Lack of efficient Transformer-based Small Language Models for educational and real-time mathematical reasoning applications.</a:t>
            </a: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4" descr="Beautify as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00" y="-393225"/>
            <a:ext cx="12287250" cy="7251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"/>
          <p:cNvSpPr txBox="1"/>
          <p:nvPr/>
        </p:nvSpPr>
        <p:spPr>
          <a:xfrm>
            <a:off x="2920916" y="245736"/>
            <a:ext cx="6871855" cy="584775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INNOVATION</a:t>
            </a:r>
            <a:endParaRPr sz="3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5"/>
          <p:cNvSpPr txBox="1"/>
          <p:nvPr/>
        </p:nvSpPr>
        <p:spPr>
          <a:xfrm>
            <a:off x="941900" y="1270175"/>
            <a:ext cx="10441500" cy="50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Lightweight Transformer-based Small Language Model specialized for mathematical reasoning.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Domain-specific training using mathematical reasoning datasets (GSM8K, MathQA, MATH).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Step-by-step mathematical solution generation through autoregressive decoding.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Computationally efficient alternative to large language models for educational applications.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Interactive web-based mathematical problem-solving interface using Streamlit.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End-to-end implementation of a Transformer-based mathematical reasoning pipeline using PyTorch.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6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6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CREATIVITY &amp; NOVELTY</a:t>
            </a:r>
            <a:endParaRPr sz="3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6"/>
          <p:cNvSpPr txBox="1"/>
          <p:nvPr/>
        </p:nvSpPr>
        <p:spPr>
          <a:xfrm>
            <a:off x="6618421" y="981504"/>
            <a:ext cx="4331700" cy="4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Creativity</a:t>
            </a:r>
            <a:endParaRPr sz="20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intermediate reasoning steps instead of only final answers.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multiple configurable generation strategies.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an interactive interface for real-time mathematical queries.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Focuses on computationally efficient mathematical reasoning.</a:t>
            </a:r>
            <a:endParaRPr sz="20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36"/>
          <p:cNvSpPr txBox="1"/>
          <p:nvPr/>
        </p:nvSpPr>
        <p:spPr>
          <a:xfrm>
            <a:off x="851487" y="916189"/>
            <a:ext cx="4475700" cy="50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lay"/>
              <a:buNone/>
            </a:pPr>
            <a:r>
              <a:rPr lang="en-IN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</a:t>
            </a:r>
            <a:endParaRPr sz="20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Combines a </a:t>
            </a:r>
            <a:r>
              <a:rPr lang="en-I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Language Model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Transformer-based mathematical reasoning.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specifically for mathematical problem solving.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Targets resource-constrained educational environments.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a foundation for domain-specific mathematical intelligence.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6" name="Google Shape;246;p36"/>
          <p:cNvCxnSpPr/>
          <p:nvPr/>
        </p:nvCxnSpPr>
        <p:spPr>
          <a:xfrm>
            <a:off x="6018245" y="806448"/>
            <a:ext cx="0" cy="628481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7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FEASIBILITY</a:t>
            </a:r>
            <a:endParaRPr sz="3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7"/>
          <p:cNvSpPr txBox="1"/>
          <p:nvPr/>
        </p:nvSpPr>
        <p:spPr>
          <a:xfrm>
            <a:off x="1085401" y="862425"/>
            <a:ext cx="10403700" cy="6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</a:t>
            </a:r>
            <a:endParaRPr sz="18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lang="en-IN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 Framework - </a:t>
            </a:r>
            <a:r>
              <a:rPr lang="en-IN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PyTorch 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lay"/>
              <a:buAutoNum type="arabicPeriod"/>
            </a:pPr>
            <a:r>
              <a:rPr lang="en-IN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Architecture</a:t>
            </a:r>
            <a:r>
              <a:rPr lang="en-IN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- Decoder-only Transformer 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lay"/>
              <a:buAutoNum type="arabicPeriod"/>
            </a:pPr>
            <a:r>
              <a:rPr lang="en-IN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- </a:t>
            </a:r>
            <a:r>
              <a:rPr lang="en-IN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training, Next-token prediction, Autoregressive text generation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lay"/>
              <a:buAutoNum type="arabicPeriod"/>
            </a:pPr>
            <a:r>
              <a:rPr lang="en-IN" sz="2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Datasets  - </a:t>
            </a:r>
            <a:r>
              <a:rPr lang="en-IN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GSM8K ,   MathQA ,   MATH Dataset , 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NuminaMath </a:t>
            </a:r>
            <a:r>
              <a:rPr lang="en-IN" sz="26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(Optional)</a:t>
            </a:r>
            <a:r>
              <a:rPr lang="en-IN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1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marL="457200" marR="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/>
          <p:nvPr/>
        </p:nvSpPr>
        <p:spPr>
          <a:xfrm>
            <a:off x="3736109" y="221673"/>
            <a:ext cx="4719900" cy="51720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8"/>
          <p:cNvSpPr txBox="1"/>
          <p:nvPr/>
        </p:nvSpPr>
        <p:spPr>
          <a:xfrm>
            <a:off x="2660072" y="193965"/>
            <a:ext cx="6871800" cy="585000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PLAN</a:t>
            </a:r>
            <a:endParaRPr sz="3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9350" y="1619250"/>
            <a:ext cx="19200" cy="352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38"/>
          <p:cNvGrpSpPr/>
          <p:nvPr/>
        </p:nvGrpSpPr>
        <p:grpSpPr>
          <a:xfrm>
            <a:off x="1809750" y="1428750"/>
            <a:ext cx="8572500" cy="400200"/>
            <a:chOff x="0" y="0"/>
            <a:chExt cx="8572500" cy="400200"/>
          </a:xfrm>
        </p:grpSpPr>
        <p:sp>
          <p:nvSpPr>
            <p:cNvPr id="264" name="Google Shape;264;p38"/>
            <p:cNvSpPr/>
            <p:nvPr/>
          </p:nvSpPr>
          <p:spPr>
            <a:xfrm>
              <a:off x="0" y="0"/>
              <a:ext cx="1238400" cy="400200"/>
            </a:xfrm>
            <a:prstGeom prst="roundRect">
              <a:avLst>
                <a:gd name="adj" fmla="val 50000"/>
              </a:avLst>
            </a:prstGeom>
            <a:solidFill>
              <a:srgbClr val="66006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8"/>
            <p:cNvSpPr txBox="1"/>
            <p:nvPr/>
          </p:nvSpPr>
          <p:spPr>
            <a:xfrm>
              <a:off x="0" y="0"/>
              <a:ext cx="1238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3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PHASE 1</a:t>
              </a:r>
              <a:endParaRPr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38"/>
            <p:cNvSpPr txBox="1"/>
            <p:nvPr/>
          </p:nvSpPr>
          <p:spPr>
            <a:xfrm>
              <a:off x="1524000" y="0"/>
              <a:ext cx="7048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>
                  <a:solidFill>
                    <a:srgbClr val="111111"/>
                  </a:solidFill>
                  <a:latin typeface="Calibri"/>
                  <a:ea typeface="Calibri"/>
                  <a:cs typeface="Calibri"/>
                  <a:sym typeface="Calibri"/>
                </a:rPr>
                <a:t>Literature Survey &amp; Requirement Analysis</a:t>
              </a:r>
              <a:endParaRPr sz="1600" b="1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38"/>
          <p:cNvGrpSpPr/>
          <p:nvPr/>
        </p:nvGrpSpPr>
        <p:grpSpPr>
          <a:xfrm>
            <a:off x="1809750" y="2095500"/>
            <a:ext cx="8572500" cy="400200"/>
            <a:chOff x="0" y="0"/>
            <a:chExt cx="8572500" cy="400200"/>
          </a:xfrm>
        </p:grpSpPr>
        <p:sp>
          <p:nvSpPr>
            <p:cNvPr id="268" name="Google Shape;268;p38"/>
            <p:cNvSpPr/>
            <p:nvPr/>
          </p:nvSpPr>
          <p:spPr>
            <a:xfrm>
              <a:off x="0" y="0"/>
              <a:ext cx="1238400" cy="400200"/>
            </a:xfrm>
            <a:prstGeom prst="roundRect">
              <a:avLst>
                <a:gd name="adj" fmla="val 50000"/>
              </a:avLst>
            </a:prstGeom>
            <a:solidFill>
              <a:srgbClr val="66006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8"/>
            <p:cNvSpPr txBox="1"/>
            <p:nvPr/>
          </p:nvSpPr>
          <p:spPr>
            <a:xfrm>
              <a:off x="0" y="0"/>
              <a:ext cx="1238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3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PHASE 2</a:t>
              </a:r>
              <a:endParaRPr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38"/>
            <p:cNvSpPr txBox="1"/>
            <p:nvPr/>
          </p:nvSpPr>
          <p:spPr>
            <a:xfrm>
              <a:off x="1524000" y="0"/>
              <a:ext cx="7048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>
                  <a:solidFill>
                    <a:srgbClr val="111111"/>
                  </a:solidFill>
                  <a:latin typeface="Calibri"/>
                  <a:ea typeface="Calibri"/>
                  <a:cs typeface="Calibri"/>
                  <a:sym typeface="Calibri"/>
                </a:rPr>
                <a:t>Mathematical Dataset Collection &amp; Data Preprocessing</a:t>
              </a:r>
              <a:endParaRPr sz="1600" b="1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1" name="Google Shape;271;p38"/>
          <p:cNvGrpSpPr/>
          <p:nvPr/>
        </p:nvGrpSpPr>
        <p:grpSpPr>
          <a:xfrm>
            <a:off x="1809750" y="2762250"/>
            <a:ext cx="8572500" cy="400200"/>
            <a:chOff x="0" y="0"/>
            <a:chExt cx="8572500" cy="400200"/>
          </a:xfrm>
        </p:grpSpPr>
        <p:sp>
          <p:nvSpPr>
            <p:cNvPr id="272" name="Google Shape;272;p38"/>
            <p:cNvSpPr/>
            <p:nvPr/>
          </p:nvSpPr>
          <p:spPr>
            <a:xfrm>
              <a:off x="0" y="0"/>
              <a:ext cx="1238400" cy="400200"/>
            </a:xfrm>
            <a:prstGeom prst="roundRect">
              <a:avLst>
                <a:gd name="adj" fmla="val 50000"/>
              </a:avLst>
            </a:prstGeom>
            <a:solidFill>
              <a:srgbClr val="66006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8"/>
            <p:cNvSpPr txBox="1"/>
            <p:nvPr/>
          </p:nvSpPr>
          <p:spPr>
            <a:xfrm>
              <a:off x="0" y="0"/>
              <a:ext cx="1238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3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PHASE 3</a:t>
              </a:r>
              <a:endParaRPr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38"/>
            <p:cNvSpPr txBox="1"/>
            <p:nvPr/>
          </p:nvSpPr>
          <p:spPr>
            <a:xfrm>
              <a:off x="1524000" y="0"/>
              <a:ext cx="7048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>
                  <a:solidFill>
                    <a:srgbClr val="111111"/>
                  </a:solidFill>
                  <a:latin typeface="Calibri"/>
                  <a:ea typeface="Calibri"/>
                  <a:cs typeface="Calibri"/>
                  <a:sym typeface="Calibri"/>
                </a:rPr>
                <a:t>Tokenization &amp; Dataset Preparation</a:t>
              </a:r>
              <a:endParaRPr sz="1600" b="1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5" name="Google Shape;275;p38"/>
          <p:cNvGrpSpPr/>
          <p:nvPr/>
        </p:nvGrpSpPr>
        <p:grpSpPr>
          <a:xfrm>
            <a:off x="1809750" y="3429000"/>
            <a:ext cx="8572500" cy="400200"/>
            <a:chOff x="0" y="0"/>
            <a:chExt cx="8572500" cy="400200"/>
          </a:xfrm>
        </p:grpSpPr>
        <p:sp>
          <p:nvSpPr>
            <p:cNvPr id="276" name="Google Shape;276;p38"/>
            <p:cNvSpPr/>
            <p:nvPr/>
          </p:nvSpPr>
          <p:spPr>
            <a:xfrm>
              <a:off x="0" y="0"/>
              <a:ext cx="1238400" cy="400200"/>
            </a:xfrm>
            <a:prstGeom prst="roundRect">
              <a:avLst>
                <a:gd name="adj" fmla="val 50000"/>
              </a:avLst>
            </a:prstGeom>
            <a:solidFill>
              <a:srgbClr val="66006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8"/>
            <p:cNvSpPr txBox="1"/>
            <p:nvPr/>
          </p:nvSpPr>
          <p:spPr>
            <a:xfrm>
              <a:off x="0" y="0"/>
              <a:ext cx="1238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3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PHASE 4</a:t>
              </a:r>
              <a:endParaRPr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38"/>
            <p:cNvSpPr txBox="1"/>
            <p:nvPr/>
          </p:nvSpPr>
          <p:spPr>
            <a:xfrm>
              <a:off x="1524000" y="0"/>
              <a:ext cx="7048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>
                  <a:solidFill>
                    <a:srgbClr val="111111"/>
                  </a:solidFill>
                  <a:latin typeface="Calibri"/>
                  <a:ea typeface="Calibri"/>
                  <a:cs typeface="Calibri"/>
                  <a:sym typeface="Calibri"/>
                </a:rPr>
                <a:t>Transformer Model Development &amp; Training</a:t>
              </a:r>
              <a:endParaRPr sz="1600" b="1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9" name="Google Shape;279;p38"/>
          <p:cNvGrpSpPr/>
          <p:nvPr/>
        </p:nvGrpSpPr>
        <p:grpSpPr>
          <a:xfrm>
            <a:off x="1809750" y="4095750"/>
            <a:ext cx="8572500" cy="400200"/>
            <a:chOff x="0" y="0"/>
            <a:chExt cx="8572500" cy="400200"/>
          </a:xfrm>
        </p:grpSpPr>
        <p:sp>
          <p:nvSpPr>
            <p:cNvPr id="280" name="Google Shape;280;p38"/>
            <p:cNvSpPr/>
            <p:nvPr/>
          </p:nvSpPr>
          <p:spPr>
            <a:xfrm>
              <a:off x="0" y="0"/>
              <a:ext cx="1238400" cy="400200"/>
            </a:xfrm>
            <a:prstGeom prst="roundRect">
              <a:avLst>
                <a:gd name="adj" fmla="val 50000"/>
              </a:avLst>
            </a:prstGeom>
            <a:solidFill>
              <a:srgbClr val="66006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8"/>
            <p:cNvSpPr txBox="1"/>
            <p:nvPr/>
          </p:nvSpPr>
          <p:spPr>
            <a:xfrm>
              <a:off x="0" y="0"/>
              <a:ext cx="1238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3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PHASE 5</a:t>
              </a:r>
              <a:endParaRPr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38"/>
            <p:cNvSpPr txBox="1"/>
            <p:nvPr/>
          </p:nvSpPr>
          <p:spPr>
            <a:xfrm>
              <a:off x="1524000" y="0"/>
              <a:ext cx="7048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>
                  <a:solidFill>
                    <a:srgbClr val="111111"/>
                  </a:solidFill>
                  <a:latin typeface="Calibri"/>
                  <a:ea typeface="Calibri"/>
                  <a:cs typeface="Calibri"/>
                  <a:sym typeface="Calibri"/>
                </a:rPr>
                <a:t>Model Evaluation &amp; Mathematical Reasoning Testing</a:t>
              </a:r>
              <a:endParaRPr sz="1600" b="1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3" name="Google Shape;283;p38"/>
          <p:cNvGrpSpPr/>
          <p:nvPr/>
        </p:nvGrpSpPr>
        <p:grpSpPr>
          <a:xfrm>
            <a:off x="1809750" y="4762500"/>
            <a:ext cx="8572500" cy="400200"/>
            <a:chOff x="0" y="0"/>
            <a:chExt cx="8572500" cy="400200"/>
          </a:xfrm>
        </p:grpSpPr>
        <p:sp>
          <p:nvSpPr>
            <p:cNvPr id="284" name="Google Shape;284;p38"/>
            <p:cNvSpPr/>
            <p:nvPr/>
          </p:nvSpPr>
          <p:spPr>
            <a:xfrm>
              <a:off x="0" y="0"/>
              <a:ext cx="1238400" cy="400200"/>
            </a:xfrm>
            <a:prstGeom prst="roundRect">
              <a:avLst>
                <a:gd name="adj" fmla="val 50000"/>
              </a:avLst>
            </a:prstGeom>
            <a:solidFill>
              <a:srgbClr val="66006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8"/>
            <p:cNvSpPr txBox="1"/>
            <p:nvPr/>
          </p:nvSpPr>
          <p:spPr>
            <a:xfrm>
              <a:off x="0" y="0"/>
              <a:ext cx="1238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3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PHASE 6</a:t>
              </a:r>
              <a:endParaRPr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38"/>
            <p:cNvSpPr txBox="1"/>
            <p:nvPr/>
          </p:nvSpPr>
          <p:spPr>
            <a:xfrm>
              <a:off x="1524000" y="0"/>
              <a:ext cx="7048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>
                  <a:solidFill>
                    <a:srgbClr val="111111"/>
                  </a:solidFill>
                  <a:latin typeface="Calibri"/>
                  <a:ea typeface="Calibri"/>
                  <a:cs typeface="Calibri"/>
                  <a:sym typeface="Calibri"/>
                </a:rPr>
                <a:t>Streamlit Web Application Development &amp; Model Integration</a:t>
              </a:r>
              <a:endParaRPr sz="1600" b="1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" name="Google Shape;287;p38"/>
          <p:cNvGrpSpPr/>
          <p:nvPr/>
        </p:nvGrpSpPr>
        <p:grpSpPr>
          <a:xfrm>
            <a:off x="1809750" y="5429250"/>
            <a:ext cx="8572500" cy="400200"/>
            <a:chOff x="0" y="0"/>
            <a:chExt cx="8572500" cy="400200"/>
          </a:xfrm>
        </p:grpSpPr>
        <p:sp>
          <p:nvSpPr>
            <p:cNvPr id="288" name="Google Shape;288;p38"/>
            <p:cNvSpPr/>
            <p:nvPr/>
          </p:nvSpPr>
          <p:spPr>
            <a:xfrm>
              <a:off x="0" y="0"/>
              <a:ext cx="1238400" cy="400200"/>
            </a:xfrm>
            <a:prstGeom prst="roundRect">
              <a:avLst>
                <a:gd name="adj" fmla="val 50000"/>
              </a:avLst>
            </a:prstGeom>
            <a:solidFill>
              <a:srgbClr val="66006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8"/>
            <p:cNvSpPr txBox="1"/>
            <p:nvPr/>
          </p:nvSpPr>
          <p:spPr>
            <a:xfrm>
              <a:off x="0" y="0"/>
              <a:ext cx="1238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3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PHASE 7</a:t>
              </a:r>
              <a:endParaRPr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38"/>
            <p:cNvSpPr txBox="1"/>
            <p:nvPr/>
          </p:nvSpPr>
          <p:spPr>
            <a:xfrm>
              <a:off x="1524000" y="0"/>
              <a:ext cx="7048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>
                  <a:solidFill>
                    <a:srgbClr val="111111"/>
                  </a:solidFill>
                  <a:latin typeface="Calibri"/>
                  <a:ea typeface="Calibri"/>
                  <a:cs typeface="Calibri"/>
                  <a:sym typeface="Calibri"/>
                </a:rPr>
                <a:t>Documentation, Testing &amp; Final Presentation</a:t>
              </a:r>
              <a:endParaRPr sz="1600" b="1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9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9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EXPECTED OUTCOME</a:t>
            </a:r>
            <a:endParaRPr sz="3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9"/>
          <p:cNvSpPr txBox="1"/>
          <p:nvPr/>
        </p:nvSpPr>
        <p:spPr>
          <a:xfrm>
            <a:off x="1024025" y="1264225"/>
            <a:ext cx="10465200" cy="28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lang="en-IN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Small Language Model for mathematical reasoning. </a:t>
            </a:r>
            <a:endParaRPr sz="18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lang="en-IN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Step-by-step mathematical solution generation. </a:t>
            </a:r>
            <a:endParaRPr sz="18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lang="en-IN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mathematical reasoning through a web interface. </a:t>
            </a:r>
            <a:endParaRPr sz="18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lang="en-IN" sz="26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learning experience </a:t>
            </a:r>
            <a:endParaRPr sz="18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</a:pPr>
            <a:r>
              <a:rPr lang="en-IN" sz="260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conceptual understanding</a:t>
            </a:r>
            <a:endParaRPr sz="18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0"/>
          <p:cNvSpPr txBox="1"/>
          <p:nvPr/>
        </p:nvSpPr>
        <p:spPr>
          <a:xfrm>
            <a:off x="2660072" y="221673"/>
            <a:ext cx="6871800" cy="585000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3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0"/>
          <p:cNvSpPr txBox="1"/>
          <p:nvPr/>
        </p:nvSpPr>
        <p:spPr>
          <a:xfrm>
            <a:off x="691400" y="1691662"/>
            <a:ext cx="10922700" cy="38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55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IN" sz="2000" b="1">
                <a:solidFill>
                  <a:schemeClr val="dk1"/>
                </a:solidFill>
              </a:rPr>
              <a:t>Data Preprocessing:</a:t>
            </a:r>
            <a:r>
              <a:rPr lang="en-IN" sz="2000">
                <a:solidFill>
                  <a:schemeClr val="dk1"/>
                </a:solidFill>
              </a:rPr>
              <a:t> Compiling robust reasoning datasets including GSM8K, MathQA, and MATH.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IN" sz="2000" b="1">
                <a:solidFill>
                  <a:schemeClr val="dk1"/>
                </a:solidFill>
              </a:rPr>
              <a:t>Mathematical Tokenization:</a:t>
            </a:r>
            <a:r>
              <a:rPr lang="en-IN" sz="2000">
                <a:solidFill>
                  <a:schemeClr val="dk1"/>
                </a:solidFill>
              </a:rPr>
              <a:t> Utilizing Hugging Face and Byte-Pair Encoding (BPE) to accurately parse numbers and formulas.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IN" sz="2000" b="1">
                <a:solidFill>
                  <a:schemeClr val="dk1"/>
                </a:solidFill>
              </a:rPr>
              <a:t>Sequence Preparation:</a:t>
            </a:r>
            <a:r>
              <a:rPr lang="en-IN" sz="2000">
                <a:solidFill>
                  <a:schemeClr val="dk1"/>
                </a:solidFill>
              </a:rPr>
              <a:t> Structuring data into Input IDs, Attention Masks, and Labels for Transformer ingestion.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IN" sz="2000" b="1">
                <a:solidFill>
                  <a:schemeClr val="dk1"/>
                </a:solidFill>
              </a:rPr>
              <a:t>Next-Token Prediction:</a:t>
            </a:r>
            <a:r>
              <a:rPr lang="en-IN" sz="2000">
                <a:solidFill>
                  <a:schemeClr val="dk1"/>
                </a:solidFill>
              </a:rPr>
              <a:t> The core learning mechanism where the model predicts logical sequential steps based on previous tokens.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1"/>
          <p:cNvSpPr txBox="1"/>
          <p:nvPr/>
        </p:nvSpPr>
        <p:spPr>
          <a:xfrm>
            <a:off x="2660072" y="193965"/>
            <a:ext cx="6871800" cy="585000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SYSTEM DESIGN</a:t>
            </a:r>
            <a:endParaRPr sz="3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1"/>
          <p:cNvSpPr txBox="1"/>
          <p:nvPr/>
        </p:nvSpPr>
        <p:spPr>
          <a:xfrm>
            <a:off x="702529" y="968034"/>
            <a:ext cx="10152600" cy="43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3810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•"/>
            </a:pPr>
            <a:r>
              <a:rPr lang="en-IN" sz="2500" b="1">
                <a:solidFill>
                  <a:schemeClr val="dk1"/>
                </a:solidFill>
              </a:rPr>
              <a:t>Decoder-Only Architecture</a:t>
            </a:r>
            <a:endParaRPr sz="2500" b="1">
              <a:solidFill>
                <a:schemeClr val="dk1"/>
              </a:solidFill>
            </a:endParaRPr>
          </a:p>
          <a:p>
            <a:pPr marL="457200" marR="381000" lvl="0" indent="-3873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•"/>
            </a:pPr>
            <a:r>
              <a:rPr lang="en-IN" sz="1900">
                <a:solidFill>
                  <a:schemeClr val="dk1"/>
                </a:solidFill>
              </a:rPr>
              <a:t>The core pipeline employs a decoder-only Transformer model. Information passes through embedding layers, multi-head attention mechanisms, and feed-forward networks, finally reaching the language model head to generate mathematical logic.</a:t>
            </a:r>
            <a:endParaRPr sz="1900">
              <a:solidFill>
                <a:schemeClr val="dk1"/>
              </a:solidFill>
            </a:endParaRPr>
          </a:p>
          <a:p>
            <a:pPr marL="457200" marR="3810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•"/>
            </a:pPr>
            <a:r>
              <a:rPr lang="en-IN" sz="2500" b="1">
                <a:solidFill>
                  <a:schemeClr val="dk1"/>
                </a:solidFill>
              </a:rPr>
              <a:t>Inference Configuration</a:t>
            </a:r>
            <a:endParaRPr sz="2500" b="1">
              <a:solidFill>
                <a:schemeClr val="dk1"/>
              </a:solidFill>
            </a:endParaRPr>
          </a:p>
          <a:p>
            <a:pPr marL="457200" marR="381000" lvl="0" indent="-3873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•"/>
            </a:pPr>
            <a:r>
              <a:rPr lang="en-IN" sz="1900">
                <a:solidFill>
                  <a:schemeClr val="dk1"/>
                </a:solidFill>
              </a:rPr>
              <a:t>Output generation is heavily configurable through advanced decoding strategies. The system utilizes Greedy Decoding, Temperature adjustments, and Top-k Sampling to ensure the highest response quality and reasoning validity in the web-based interface.</a:t>
            </a:r>
            <a:endParaRPr sz="14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/>
          <p:nvPr/>
        </p:nvSpPr>
        <p:spPr>
          <a:xfrm>
            <a:off x="3736109" y="221673"/>
            <a:ext cx="4719900" cy="51720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2"/>
          <p:cNvSpPr txBox="1"/>
          <p:nvPr/>
        </p:nvSpPr>
        <p:spPr>
          <a:xfrm>
            <a:off x="2660072" y="193965"/>
            <a:ext cx="6871800" cy="585000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MODERN TOOLS &amp; TECHNOLOGY</a:t>
            </a:r>
            <a:endParaRPr sz="3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6" name="Google Shape;216;p32"/>
          <p:cNvGrpSpPr/>
          <p:nvPr/>
        </p:nvGrpSpPr>
        <p:grpSpPr>
          <a:xfrm>
            <a:off x="762000" y="1524000"/>
            <a:ext cx="3238500" cy="4572000"/>
            <a:chOff x="0" y="0"/>
            <a:chExt cx="3238500" cy="4572000"/>
          </a:xfrm>
        </p:grpSpPr>
        <p:sp>
          <p:nvSpPr>
            <p:cNvPr id="217" name="Google Shape;217;p32"/>
            <p:cNvSpPr/>
            <p:nvPr/>
          </p:nvSpPr>
          <p:spPr>
            <a:xfrm>
              <a:off x="0" y="0"/>
              <a:ext cx="3238500" cy="4572000"/>
            </a:xfrm>
            <a:prstGeom prst="roundRect">
              <a:avLst>
                <a:gd name="adj" fmla="val 4705"/>
              </a:avLst>
            </a:prstGeom>
            <a:solidFill>
              <a:srgbClr val="F9F5FA"/>
            </a:solidFill>
            <a:ln w="14300" cap="flat" cmpd="sng">
              <a:solidFill>
                <a:srgbClr val="E6D5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2"/>
            <p:cNvSpPr/>
            <p:nvPr/>
          </p:nvSpPr>
          <p:spPr>
            <a:xfrm>
              <a:off x="0" y="0"/>
              <a:ext cx="3238500" cy="76200"/>
            </a:xfrm>
            <a:prstGeom prst="roundRect">
              <a:avLst>
                <a:gd name="adj" fmla="val 50000"/>
              </a:avLst>
            </a:prstGeom>
            <a:solidFill>
              <a:srgbClr val="66006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2"/>
            <p:cNvSpPr txBox="1"/>
            <p:nvPr/>
          </p:nvSpPr>
          <p:spPr>
            <a:xfrm>
              <a:off x="228600" y="304800"/>
              <a:ext cx="2781300" cy="396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3600">
                  <a:solidFill>
                    <a:srgbClr val="6600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endParaRPr sz="3600">
                <a:solidFill>
                  <a:srgbClr val="66006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IN" sz="2200" b="1">
                  <a:solidFill>
                    <a:srgbClr val="660066"/>
                  </a:solidFill>
                  <a:latin typeface="Arial"/>
                  <a:ea typeface="Arial"/>
                  <a:cs typeface="Arial"/>
                  <a:sym typeface="Arial"/>
                </a:rPr>
                <a:t>PyTorch</a:t>
              </a:r>
              <a:endParaRPr sz="2200" b="1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IN" sz="13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The foundational deep learning framework used to implement, train, and optimize the decoder-only Transformer architecture.</a:t>
              </a:r>
              <a:endParaRPr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" name="Google Shape;220;p32"/>
          <p:cNvGrpSpPr/>
          <p:nvPr/>
        </p:nvGrpSpPr>
        <p:grpSpPr>
          <a:xfrm>
            <a:off x="4476750" y="1524000"/>
            <a:ext cx="3238500" cy="4572000"/>
            <a:chOff x="0" y="0"/>
            <a:chExt cx="3238500" cy="4572000"/>
          </a:xfrm>
        </p:grpSpPr>
        <p:sp>
          <p:nvSpPr>
            <p:cNvPr id="221" name="Google Shape;221;p32"/>
            <p:cNvSpPr/>
            <p:nvPr/>
          </p:nvSpPr>
          <p:spPr>
            <a:xfrm>
              <a:off x="0" y="0"/>
              <a:ext cx="3238500" cy="4572000"/>
            </a:xfrm>
            <a:prstGeom prst="roundRect">
              <a:avLst>
                <a:gd name="adj" fmla="val 4705"/>
              </a:avLst>
            </a:prstGeom>
            <a:solidFill>
              <a:srgbClr val="F9F5FA"/>
            </a:solidFill>
            <a:ln w="14300" cap="flat" cmpd="sng">
              <a:solidFill>
                <a:srgbClr val="E6D5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2"/>
            <p:cNvSpPr/>
            <p:nvPr/>
          </p:nvSpPr>
          <p:spPr>
            <a:xfrm>
              <a:off x="0" y="0"/>
              <a:ext cx="3238500" cy="76200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2"/>
            <p:cNvSpPr txBox="1"/>
            <p:nvPr/>
          </p:nvSpPr>
          <p:spPr>
            <a:xfrm>
              <a:off x="228600" y="304800"/>
              <a:ext cx="2781300" cy="396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3600">
                  <a:solidFill>
                    <a:srgbClr val="C000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smart_toy</a:t>
              </a:r>
              <a:endParaRPr sz="3600">
                <a:solidFill>
                  <a:srgbClr val="C000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IN" sz="2200" b="1">
                  <a:solidFill>
                    <a:srgbClr val="660066"/>
                  </a:solidFill>
                  <a:latin typeface="Arial"/>
                  <a:ea typeface="Arial"/>
                  <a:cs typeface="Arial"/>
                  <a:sym typeface="Arial"/>
                </a:rPr>
                <a:t>Hugging Face</a:t>
              </a:r>
              <a:endParaRPr sz="2200" b="1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IN" sz="13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Leveraged for advanced tokenization (BPE) and seamless access to critical mathematical datasets like GSM8K.</a:t>
              </a:r>
              <a:endParaRPr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4" name="Google Shape;224;p32"/>
          <p:cNvGrpSpPr/>
          <p:nvPr/>
        </p:nvGrpSpPr>
        <p:grpSpPr>
          <a:xfrm>
            <a:off x="8191500" y="1524000"/>
            <a:ext cx="3238500" cy="4572000"/>
            <a:chOff x="0" y="0"/>
            <a:chExt cx="3238500" cy="4572000"/>
          </a:xfrm>
        </p:grpSpPr>
        <p:sp>
          <p:nvSpPr>
            <p:cNvPr id="225" name="Google Shape;225;p32"/>
            <p:cNvSpPr/>
            <p:nvPr/>
          </p:nvSpPr>
          <p:spPr>
            <a:xfrm>
              <a:off x="0" y="0"/>
              <a:ext cx="3238500" cy="4572000"/>
            </a:xfrm>
            <a:prstGeom prst="roundRect">
              <a:avLst>
                <a:gd name="adj" fmla="val 4705"/>
              </a:avLst>
            </a:prstGeom>
            <a:solidFill>
              <a:srgbClr val="F9F5FA"/>
            </a:solidFill>
            <a:ln w="14300" cap="flat" cmpd="sng">
              <a:solidFill>
                <a:srgbClr val="E6D5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2"/>
            <p:cNvSpPr/>
            <p:nvPr/>
          </p:nvSpPr>
          <p:spPr>
            <a:xfrm>
              <a:off x="0" y="0"/>
              <a:ext cx="3238500" cy="76200"/>
            </a:xfrm>
            <a:prstGeom prst="roundRect">
              <a:avLst>
                <a:gd name="adj" fmla="val 50000"/>
              </a:avLst>
            </a:prstGeom>
            <a:solidFill>
              <a:srgbClr val="66006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2"/>
            <p:cNvSpPr txBox="1"/>
            <p:nvPr/>
          </p:nvSpPr>
          <p:spPr>
            <a:xfrm>
              <a:off x="228600" y="304800"/>
              <a:ext cx="2781300" cy="396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3600">
                  <a:solidFill>
                    <a:srgbClr val="6600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dashboard</a:t>
              </a:r>
              <a:endParaRPr sz="3600">
                <a:solidFill>
                  <a:srgbClr val="66006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IN" sz="2200" b="1">
                  <a:solidFill>
                    <a:srgbClr val="660066"/>
                  </a:solidFill>
                  <a:latin typeface="Arial"/>
                  <a:ea typeface="Arial"/>
                  <a:cs typeface="Arial"/>
                  <a:sym typeface="Arial"/>
                </a:rPr>
                <a:t>Streamlit</a:t>
              </a:r>
              <a:endParaRPr sz="2200" b="1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IN" sz="13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Powers the interactive web application, allowing users to input mathematical queries and receive real-time reasoning.</a:t>
              </a:r>
              <a:endParaRPr sz="13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3"/>
          <p:cNvSpPr/>
          <p:nvPr/>
        </p:nvSpPr>
        <p:spPr>
          <a:xfrm>
            <a:off x="3736109" y="221673"/>
            <a:ext cx="4719900" cy="51720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3"/>
          <p:cNvSpPr txBox="1"/>
          <p:nvPr/>
        </p:nvSpPr>
        <p:spPr>
          <a:xfrm>
            <a:off x="2660072" y="193965"/>
            <a:ext cx="6871800" cy="585000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sz="3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3"/>
          <p:cNvSpPr txBox="1"/>
          <p:nvPr/>
        </p:nvSpPr>
        <p:spPr>
          <a:xfrm>
            <a:off x="702529" y="968034"/>
            <a:ext cx="10152600" cy="40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25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Char char="•"/>
            </a:pPr>
            <a:r>
              <a:rPr lang="en-IN" sz="2700">
                <a:solidFill>
                  <a:schemeClr val="dk1"/>
                </a:solidFill>
              </a:rPr>
              <a:t>Autoregressive Generation</a:t>
            </a:r>
            <a:endParaRPr sz="2700">
              <a:solidFill>
                <a:schemeClr val="dk1"/>
              </a:solidFill>
            </a:endParaRPr>
          </a:p>
          <a:p>
            <a:pPr marL="457200" lvl="0" indent="-4254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Char char="•"/>
            </a:pPr>
            <a:r>
              <a:rPr lang="en-IN" sz="2100">
                <a:solidFill>
                  <a:schemeClr val="dk1"/>
                </a:solidFill>
              </a:rPr>
              <a:t>The implementation focuses on training the model across vast mathematical datasets to recognize complex patterns. Through supervised training, the framework learns to generate intermediate reasoning steps autoregressively.</a:t>
            </a:r>
            <a:endParaRPr sz="2100">
              <a:solidFill>
                <a:schemeClr val="dk1"/>
              </a:solidFill>
            </a:endParaRPr>
          </a:p>
          <a:p>
            <a:pPr marL="457200" lvl="0" indent="-4254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Char char="•"/>
            </a:pPr>
            <a:r>
              <a:rPr lang="en-IN" sz="2100">
                <a:solidFill>
                  <a:schemeClr val="dk1"/>
                </a:solidFill>
              </a:rPr>
              <a:t>By forcing the model to explicitly output these logical intermediate steps before producing the final answer, the system dramatically improves overall accuracy and computational transparency.</a:t>
            </a:r>
            <a:endParaRPr sz="3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4"/>
          <p:cNvSpPr/>
          <p:nvPr/>
        </p:nvSpPr>
        <p:spPr>
          <a:xfrm>
            <a:off x="3736109" y="221673"/>
            <a:ext cx="4719900" cy="51720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4"/>
          <p:cNvSpPr txBox="1"/>
          <p:nvPr/>
        </p:nvSpPr>
        <p:spPr>
          <a:xfrm>
            <a:off x="2660072" y="193965"/>
            <a:ext cx="6871800" cy="585000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sz="3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4"/>
          <p:cNvSpPr txBox="1"/>
          <p:nvPr/>
        </p:nvSpPr>
        <p:spPr>
          <a:xfrm>
            <a:off x="702529" y="968034"/>
            <a:ext cx="10152600" cy="47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63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Times New Roman"/>
              <a:buChar char="•"/>
            </a:pPr>
            <a:r>
              <a:rPr lang="en-IN" sz="2700">
                <a:solidFill>
                  <a:schemeClr val="dk1"/>
                </a:solidFill>
              </a:rPr>
              <a:t>Efficient Intelligence</a:t>
            </a:r>
            <a:endParaRPr sz="2700">
              <a:solidFill>
                <a:schemeClr val="dk1"/>
              </a:solidFill>
            </a:endParaRPr>
          </a:p>
          <a:p>
            <a:pPr marL="457200" lvl="0" indent="-46355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Times New Roman"/>
              <a:buChar char="•"/>
            </a:pPr>
            <a:r>
              <a:rPr lang="en-IN" sz="2250">
                <a:solidFill>
                  <a:schemeClr val="dk1"/>
                </a:solidFill>
              </a:rPr>
              <a:t>MathSLM successfully demonstrates the practical capabilities of Small Language Models in specialized domains.</a:t>
            </a:r>
            <a:endParaRPr sz="2250">
              <a:solidFill>
                <a:schemeClr val="dk1"/>
              </a:solidFill>
            </a:endParaRPr>
          </a:p>
          <a:p>
            <a:pPr marL="457200" lvl="0" indent="-46355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Times New Roman"/>
              <a:buChar char="•"/>
            </a:pPr>
            <a:r>
              <a:rPr lang="en-IN" sz="2250">
                <a:solidFill>
                  <a:schemeClr val="dk1"/>
                </a:solidFill>
              </a:rPr>
              <a:t>It provides an accessible, lightweight mathematical reasoning assistant that circumvents the immense computational costs typically associated with Large Language Models, making it highly suitable for educational and resource-constrained environments.</a:t>
            </a:r>
            <a:endParaRPr sz="3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/>
          <p:cNvSpPr/>
          <p:nvPr/>
        </p:nvSpPr>
        <p:spPr>
          <a:xfrm>
            <a:off x="3736109" y="221673"/>
            <a:ext cx="4719900" cy="51720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5"/>
          <p:cNvSpPr txBox="1"/>
          <p:nvPr/>
        </p:nvSpPr>
        <p:spPr>
          <a:xfrm>
            <a:off x="2660072" y="193965"/>
            <a:ext cx="6871800" cy="585000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sz="3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5"/>
          <p:cNvSpPr txBox="1"/>
          <p:nvPr/>
        </p:nvSpPr>
        <p:spPr>
          <a:xfrm>
            <a:off x="702529" y="968034"/>
            <a:ext cx="10152600" cy="51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241300" lvl="0" indent="-3365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IN" sz="1850">
                <a:solidFill>
                  <a:schemeClr val="dk1"/>
                </a:solidFill>
              </a:rPr>
              <a:t>Quantitative Metrics</a:t>
            </a:r>
            <a:endParaRPr sz="1850">
              <a:solidFill>
                <a:schemeClr val="dk1"/>
              </a:solidFill>
            </a:endParaRPr>
          </a:p>
          <a:p>
            <a:pPr marL="457200" marR="241300" lvl="0" indent="-3365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IN" sz="1700">
                <a:solidFill>
                  <a:schemeClr val="dk1"/>
                </a:solidFill>
              </a:rPr>
              <a:t>The model's base learning efficiency is evaluated rigorously using training and validation loss, perplexity, and token prediction accuracy over time.</a:t>
            </a:r>
            <a:endParaRPr sz="1700">
              <a:solidFill>
                <a:schemeClr val="dk1"/>
              </a:solidFill>
            </a:endParaRPr>
          </a:p>
          <a:p>
            <a:pPr marL="457200" marR="241300" lvl="0" indent="-3365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IN" sz="1850">
                <a:solidFill>
                  <a:schemeClr val="dk1"/>
                </a:solidFill>
              </a:rPr>
              <a:t>Dataset Benchmarks</a:t>
            </a:r>
            <a:endParaRPr sz="1850">
              <a:solidFill>
                <a:schemeClr val="dk1"/>
              </a:solidFill>
            </a:endParaRPr>
          </a:p>
          <a:p>
            <a:pPr marL="457200" marR="241300" lvl="0" indent="-3365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IN" sz="1700">
                <a:solidFill>
                  <a:schemeClr val="dk1"/>
                </a:solidFill>
              </a:rPr>
              <a:t>Overall problem-solving capability is benchmarked against established, diverse mathematical reasoning datasets (GSM8K, MathQA, MATH).</a:t>
            </a:r>
            <a:endParaRPr sz="1700">
              <a:solidFill>
                <a:schemeClr val="dk1"/>
              </a:solidFill>
            </a:endParaRPr>
          </a:p>
          <a:p>
            <a:pPr marL="457200" marR="241300" lvl="0" indent="-3365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IN" sz="1850">
                <a:solidFill>
                  <a:schemeClr val="dk1"/>
                </a:solidFill>
              </a:rPr>
              <a:t>Qualitative Analysis</a:t>
            </a:r>
            <a:endParaRPr sz="1850">
              <a:solidFill>
                <a:schemeClr val="dk1"/>
              </a:solidFill>
            </a:endParaRPr>
          </a:p>
          <a:p>
            <a:pPr marL="457200" marR="241300" lvl="0" indent="-3365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IN" sz="1700">
                <a:solidFill>
                  <a:schemeClr val="dk1"/>
                </a:solidFill>
              </a:rPr>
              <a:t>Beyond final answers, generated responses are deeply assessed for logical correctness, narrative coherence, and overall reasoning quality.</a:t>
            </a:r>
            <a:endParaRPr sz="1700">
              <a:solidFill>
                <a:schemeClr val="dk1"/>
              </a:solidFill>
            </a:endParaRPr>
          </a:p>
          <a:p>
            <a:pPr marL="457200" marR="241300" lvl="0" indent="-3365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IN" sz="1850">
                <a:solidFill>
                  <a:schemeClr val="dk1"/>
                </a:solidFill>
              </a:rPr>
              <a:t>Sample-Based Assessment</a:t>
            </a:r>
            <a:endParaRPr sz="1850">
              <a:solidFill>
                <a:schemeClr val="dk1"/>
              </a:solidFill>
            </a:endParaRPr>
          </a:p>
          <a:p>
            <a:pPr marL="457200" marR="241300" lvl="0" indent="-3365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IN" sz="1700">
                <a:solidFill>
                  <a:schemeClr val="dk1"/>
                </a:solidFill>
              </a:rPr>
              <a:t>Manual sample-based evaluation is utilized to verify that the intermediate steps structurally support the final derived mathematical solution.</a:t>
            </a:r>
            <a:endParaRPr sz="2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6"/>
          <p:cNvSpPr/>
          <p:nvPr/>
        </p:nvSpPr>
        <p:spPr>
          <a:xfrm>
            <a:off x="3736107" y="2619376"/>
            <a:ext cx="4946253" cy="1357819"/>
          </a:xfrm>
          <a:prstGeom prst="roundRect">
            <a:avLst>
              <a:gd name="adj" fmla="val 16667"/>
            </a:avLst>
          </a:prstGeom>
          <a:solidFill>
            <a:srgbClr val="660066"/>
          </a:solidFill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1151</Words>
  <Application>Microsoft Office PowerPoint</Application>
  <PresentationFormat>Widescreen</PresentationFormat>
  <Paragraphs>153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Times New Roman</vt:lpstr>
      <vt:lpstr>Roboto</vt:lpstr>
      <vt:lpstr>Arial</vt:lpstr>
      <vt:lpstr>Calibri</vt:lpstr>
      <vt:lpstr>Material Icons</vt:lpstr>
      <vt:lpstr>Play</vt:lpstr>
      <vt:lpstr>Office Theme</vt:lpstr>
      <vt:lpstr>Office Theme</vt:lpstr>
      <vt:lpstr>MathSLM – A TRANSFORMER-BASED SMALL LANGUAGE MODEL FOR MATHEMATICAL REASONING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MathSLM – A TRANSFORMER-BASED SMALL LANGUAGE MODEL FOR MATHEMATICAL REASONING </dc:title>
  <cp:lastModifiedBy>Nikhil Kola</cp:lastModifiedBy>
  <cp:revision>1</cp:revision>
  <dcterms:modified xsi:type="dcterms:W3CDTF">2026-09-16T03:12:19Z</dcterms:modified>
</cp:coreProperties>
</file>